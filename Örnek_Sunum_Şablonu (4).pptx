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4" r:id="rId8"/>
    <p:sldId id="265" r:id="rId9"/>
    <p:sldId id="262" r:id="rId10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D58791-5FC2-4C35-8D2C-55319539ADBC}" v="30" dt="2025-12-23T12:14:13.426"/>
    <p1510:client id="{9D47100A-E1E0-489F-A53B-70B3D3A336C8}" v="4673" dt="2025-12-21T13:23:37.30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Orta Stil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5" y="505248"/>
            <a:ext cx="4932680" cy="409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80745" y="1453133"/>
            <a:ext cx="7179309" cy="817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56333" y="2103557"/>
            <a:ext cx="5478145" cy="1374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0745" y="1453133"/>
            <a:ext cx="7179309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FET445</a:t>
            </a:r>
            <a:r>
              <a:rPr spc="-190" dirty="0"/>
              <a:t> </a:t>
            </a:r>
            <a:r>
              <a:rPr dirty="0"/>
              <a:t>Veri</a:t>
            </a:r>
            <a:r>
              <a:rPr spc="-190" dirty="0"/>
              <a:t> </a:t>
            </a:r>
            <a:r>
              <a:rPr spc="-200" dirty="0"/>
              <a:t>Madenciliği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56333" y="2103557"/>
            <a:ext cx="5478145" cy="1774204"/>
          </a:xfrm>
          <a:prstGeom prst="rect">
            <a:avLst/>
          </a:prstGeom>
        </p:spPr>
        <p:txBody>
          <a:bodyPr vert="horz" wrap="square" lIns="0" tIns="167005" rIns="0" bIns="0" rtlCol="0" anchor="t">
            <a:spAutoFit/>
          </a:bodyPr>
          <a:lstStyle/>
          <a:p>
            <a:pPr marL="12700">
              <a:spcBef>
                <a:spcPts val="1315"/>
              </a:spcBef>
            </a:pPr>
            <a:r>
              <a:rPr lang="tr-TR" sz="2800" spc="-20" dirty="0">
                <a:latin typeface="Arial MT"/>
                <a:cs typeface="Arial MT"/>
              </a:rPr>
              <a:t>Kütüphanede okuyucuların bir sonraki kitabı tahminleme</a:t>
            </a:r>
            <a:endParaRPr sz="2800" spc="-10" dirty="0">
              <a:latin typeface="Arial MT"/>
              <a:cs typeface="Arial MT"/>
            </a:endParaRPr>
          </a:p>
          <a:p>
            <a:pPr marL="150495" algn="ctr">
              <a:spcBef>
                <a:spcPts val="1605"/>
              </a:spcBef>
            </a:pPr>
            <a:r>
              <a:rPr sz="3500" b="1" err="1">
                <a:solidFill>
                  <a:srgbClr val="595959"/>
                </a:solidFill>
                <a:latin typeface="Arial"/>
                <a:cs typeface="Arial"/>
              </a:rPr>
              <a:t>Grup</a:t>
            </a:r>
            <a:r>
              <a:rPr sz="3500" b="1" dirty="0">
                <a:solidFill>
                  <a:srgbClr val="595959"/>
                </a:solidFill>
                <a:latin typeface="Arial"/>
                <a:cs typeface="Arial"/>
              </a:rPr>
              <a:t>:</a:t>
            </a:r>
            <a:r>
              <a:rPr sz="3500" b="1" spc="-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tr-TR" sz="3500" b="1" spc="-10" dirty="0">
                <a:solidFill>
                  <a:srgbClr val="595959"/>
                </a:solidFill>
                <a:latin typeface="Arial"/>
                <a:cs typeface="Arial"/>
              </a:rPr>
              <a:t>Kütüphane Zekası</a:t>
            </a:r>
            <a:endParaRPr sz="35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80400" y="4124806"/>
            <a:ext cx="1230630" cy="566822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Tarih:</a:t>
            </a:r>
            <a:r>
              <a:rPr sz="1800" spc="-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lang="tr-TR" spc="-20" dirty="0">
                <a:solidFill>
                  <a:srgbClr val="595959"/>
                </a:solidFill>
                <a:latin typeface="Arial MT"/>
                <a:cs typeface="Arial MT"/>
              </a:rPr>
              <a:t>21.12.2025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477029" cy="477054"/>
          </a:xfrm>
          <a:prstGeom prst="rect">
            <a:avLst/>
          </a:prstGeom>
        </p:spPr>
        <p:txBody>
          <a:bodyPr vert="horz" wrap="square" lIns="0" tIns="15240" rIns="0" bIns="0" rtlCol="0" anchor="t">
            <a:spAutoFit/>
          </a:bodyPr>
          <a:lstStyle/>
          <a:p>
            <a:pPr marL="12700">
              <a:spcBef>
                <a:spcPts val="120"/>
              </a:spcBef>
            </a:pPr>
            <a:r>
              <a:rPr lang="tr-TR" sz="3000" dirty="0"/>
              <a:t>Kütüphanede okuyuculara kitap tavsiyesi </a:t>
            </a:r>
            <a:endParaRPr lang="tr-TR" sz="2500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271156"/>
            <a:ext cx="7975373" cy="1700466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tr-TR" spc="-10" dirty="0">
                <a:solidFill>
                  <a:srgbClr val="595959"/>
                </a:solidFill>
                <a:latin typeface="Arial MT"/>
                <a:cs typeface="Arial MT"/>
              </a:rPr>
              <a:t>Kütüphanelerde bir çok kitap bulunmakta ve okuyucular bunlara karar vermekte zorlanmaktadır veya  kütüphane görevlileri okuyucuların ilgilerini çekebilmek ve okuyucu kaybetmek istememektedir. </a:t>
            </a:r>
          </a:p>
          <a:p>
            <a:pPr marL="12700">
              <a:spcBef>
                <a:spcPts val="100"/>
              </a:spcBef>
            </a:pPr>
            <a:endParaRPr lang="tr-TR" spc="-10" dirty="0">
              <a:solidFill>
                <a:srgbClr val="595959"/>
              </a:solidFill>
              <a:latin typeface="Arial MT"/>
              <a:cs typeface="Arial MT"/>
            </a:endParaRPr>
          </a:p>
          <a:p>
            <a:pPr marL="12700">
              <a:spcBef>
                <a:spcPts val="100"/>
              </a:spcBef>
            </a:pPr>
            <a:r>
              <a:rPr lang="tr-TR" spc="-10" dirty="0">
                <a:solidFill>
                  <a:srgbClr val="595959"/>
                </a:solidFill>
                <a:latin typeface="Arial MT"/>
                <a:cs typeface="Arial MT"/>
              </a:rPr>
              <a:t>Biz iste bu problemi okuyucuların bilgilerine ve son okuduğu kitaplara bakarak bir sonraki hangi kitabı alacağını tahminlemekteyiz.</a:t>
            </a:r>
          </a:p>
        </p:txBody>
      </p:sp>
      <p:pic>
        <p:nvPicPr>
          <p:cNvPr id="5" name="Resim 4" descr="kitap dolabı, kitap, raf, rafa kaldırm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534FBAB-B63B-D3E7-321C-8156D6F51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801" y="3120284"/>
            <a:ext cx="5033246" cy="18152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6835" y="143814"/>
            <a:ext cx="7733169" cy="3721532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tr-TR" sz="2000" b="1" spc="-10" dirty="0">
                <a:solidFill>
                  <a:schemeClr val="tx1"/>
                </a:solidFill>
                <a:latin typeface="Arial MT"/>
              </a:rPr>
              <a:t>Veri seti </a:t>
            </a:r>
            <a:r>
              <a:rPr lang="tr-TR" sz="2000" b="1" spc="-10" dirty="0">
                <a:solidFill>
                  <a:srgbClr val="595959"/>
                </a:solidFill>
                <a:latin typeface="Arial MT"/>
              </a:rPr>
              <a:t>-&gt;</a:t>
            </a:r>
            <a:r>
              <a:rPr lang="tr-TR" spc="-10" dirty="0">
                <a:solidFill>
                  <a:srgbClr val="595959"/>
                </a:solidFill>
                <a:latin typeface="Arial MT"/>
              </a:rPr>
              <a:t> </a:t>
            </a:r>
            <a:r>
              <a:rPr lang="tr-TR" spc="-10" dirty="0">
                <a:solidFill>
                  <a:schemeClr val="tx1"/>
                </a:solidFill>
                <a:latin typeface="Aptos Display"/>
              </a:rPr>
              <a:t>Veri setimiz </a:t>
            </a:r>
            <a:r>
              <a:rPr lang="tr-TR" spc="-10" err="1">
                <a:solidFill>
                  <a:schemeClr val="tx1"/>
                </a:solidFill>
                <a:latin typeface="Aptos Display"/>
              </a:rPr>
              <a:t>türkiyenin</a:t>
            </a:r>
            <a:r>
              <a:rPr lang="tr-TR" spc="-10" dirty="0">
                <a:solidFill>
                  <a:schemeClr val="tx1"/>
                </a:solidFill>
                <a:latin typeface="Aptos Display"/>
              </a:rPr>
              <a:t> en büyük üniversite kütüphanesine sahip İstanbul Medeniyet Üniversitesi Ziraat Bankası Kütüphanesinin veri setidir. Gerçek bir veri setidir.</a:t>
            </a:r>
            <a:endParaRPr lang="tr-TR" dirty="0">
              <a:solidFill>
                <a:schemeClr val="tx1"/>
              </a:solidFill>
              <a:latin typeface="Aptos Display"/>
            </a:endParaRPr>
          </a:p>
          <a:p>
            <a:pPr marL="12700">
              <a:spcBef>
                <a:spcPts val="1520"/>
              </a:spcBef>
            </a:pPr>
            <a:r>
              <a:rPr sz="2000" b="1" dirty="0">
                <a:solidFill>
                  <a:schemeClr val="tx1"/>
                </a:solidFill>
                <a:latin typeface="Arial MT"/>
                <a:cs typeface="Arial MT"/>
              </a:rPr>
              <a:t>Size</a:t>
            </a:r>
            <a:r>
              <a:rPr lang="tr-TR" dirty="0">
                <a:solidFill>
                  <a:srgbClr val="595959"/>
                </a:solidFill>
                <a:latin typeface="Arial MT"/>
                <a:cs typeface="Arial MT"/>
              </a:rPr>
              <a:t>  -&gt; </a:t>
            </a:r>
            <a:r>
              <a:rPr lang="tr-TR" dirty="0">
                <a:solidFill>
                  <a:schemeClr val="tx1"/>
                </a:solidFill>
                <a:latin typeface="Arial MT"/>
                <a:cs typeface="Arial MT"/>
              </a:rPr>
              <a:t>6 Sütun 13437 satır   </a:t>
            </a:r>
            <a:r>
              <a:rPr lang="tr-TR" dirty="0">
                <a:solidFill>
                  <a:srgbClr val="595959"/>
                </a:solidFill>
                <a:latin typeface="Arial MT"/>
                <a:cs typeface="Arial MT"/>
              </a:rPr>
              <a:t>  </a:t>
            </a:r>
            <a:endParaRPr lang="tr-TR" spc="-20" dirty="0">
              <a:solidFill>
                <a:srgbClr val="595959"/>
              </a:solidFill>
              <a:latin typeface="Arial MT"/>
              <a:cs typeface="Arial MT"/>
            </a:endParaRPr>
          </a:p>
          <a:p>
            <a:pPr marL="12700">
              <a:spcBef>
                <a:spcPts val="1520"/>
              </a:spcBef>
            </a:pPr>
            <a:r>
              <a:rPr lang="tr-TR" sz="2000" b="1" dirty="0">
                <a:solidFill>
                  <a:schemeClr val="tx1"/>
                </a:solidFill>
              </a:rPr>
              <a:t>Özellik Tipi</a:t>
            </a:r>
            <a:r>
              <a:rPr lang="tr-TR" sz="2000" b="1" dirty="0">
                <a:solidFill>
                  <a:schemeClr val="tx1"/>
                </a:solidFill>
                <a:latin typeface="Arial MT"/>
                <a:cs typeface="Arial MT"/>
              </a:rPr>
              <a:t> </a:t>
            </a:r>
            <a:r>
              <a:rPr lang="tr-TR" dirty="0">
                <a:solidFill>
                  <a:srgbClr val="595959"/>
                </a:solidFill>
                <a:latin typeface="Arial MT"/>
                <a:cs typeface="Arial MT"/>
              </a:rPr>
              <a:t>- &gt; </a:t>
            </a:r>
            <a:endParaRPr sz="1800" spc="-20" dirty="0">
              <a:solidFill>
                <a:srgbClr val="595959"/>
              </a:solidFill>
              <a:latin typeface="Arial MT"/>
              <a:cs typeface="Arial MT"/>
            </a:endParaRPr>
          </a:p>
          <a:p>
            <a:pPr marL="12700">
              <a:spcBef>
                <a:spcPts val="1520"/>
              </a:spcBef>
            </a:pPr>
            <a:endParaRPr lang="tr-TR" dirty="0">
              <a:solidFill>
                <a:srgbClr val="595959"/>
              </a:solidFill>
              <a:latin typeface="Arial MT"/>
              <a:cs typeface="Arial MT"/>
            </a:endParaRPr>
          </a:p>
          <a:p>
            <a:pPr marL="12700">
              <a:spcBef>
                <a:spcPts val="1520"/>
              </a:spcBef>
            </a:pPr>
            <a:endParaRPr lang="tr-TR" dirty="0">
              <a:solidFill>
                <a:srgbClr val="595959"/>
              </a:solidFill>
              <a:latin typeface="Arial MT"/>
              <a:cs typeface="Arial MT"/>
            </a:endParaRPr>
          </a:p>
          <a:p>
            <a:pPr marL="12700">
              <a:spcBef>
                <a:spcPts val="1520"/>
              </a:spcBef>
            </a:pPr>
            <a:endParaRPr lang="tr-TR" dirty="0">
              <a:solidFill>
                <a:srgbClr val="595959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endParaRPr sz="1800" spc="-20" dirty="0">
              <a:solidFill>
                <a:srgbClr val="595959"/>
              </a:solidFill>
              <a:latin typeface="Arial MT"/>
              <a:cs typeface="Arial MT"/>
            </a:endParaRPr>
          </a:p>
        </p:txBody>
      </p:sp>
      <p:graphicFrame>
        <p:nvGraphicFramePr>
          <p:cNvPr id="3" name="Tablo 2">
            <a:extLst>
              <a:ext uri="{FF2B5EF4-FFF2-40B4-BE49-F238E27FC236}">
                <a16:creationId xmlns:a16="http://schemas.microsoft.com/office/drawing/2014/main" id="{562FEB5C-B6C5-4BE7-F894-BFBCD9DCC9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196822"/>
              </p:ext>
            </p:extLst>
          </p:nvPr>
        </p:nvGraphicFramePr>
        <p:xfrm>
          <a:off x="1753643" y="1737986"/>
          <a:ext cx="582485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2426">
                  <a:extLst>
                    <a:ext uri="{9D8B030D-6E8A-4147-A177-3AD203B41FA5}">
                      <a16:colId xmlns:a16="http://schemas.microsoft.com/office/drawing/2014/main" val="3914667099"/>
                    </a:ext>
                  </a:extLst>
                </a:gridCol>
                <a:gridCol w="2912426">
                  <a:extLst>
                    <a:ext uri="{9D8B030D-6E8A-4147-A177-3AD203B41FA5}">
                      <a16:colId xmlns:a16="http://schemas.microsoft.com/office/drawing/2014/main" val="443526168"/>
                    </a:ext>
                  </a:extLst>
                </a:gridCol>
              </a:tblGrid>
              <a:tr h="367693">
                <a:tc>
                  <a:txBody>
                    <a:bodyPr/>
                    <a:lstStyle/>
                    <a:p>
                      <a:r>
                        <a:rPr lang="tr-TR" sz="2400" b="1" i="0" u="sng" dirty="0"/>
                        <a:t>Özellik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b="1" i="0" u="sng" dirty="0"/>
                        <a:t>Tip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4883802"/>
                  </a:ext>
                </a:extLst>
              </a:tr>
              <a:tr h="335929">
                <a:tc>
                  <a:txBody>
                    <a:bodyPr/>
                    <a:lstStyle/>
                    <a:p>
                      <a:r>
                        <a:rPr lang="tr-TR" b="1" i="1" dirty="0"/>
                        <a:t>Öğrenci-Kimlik-</a:t>
                      </a:r>
                      <a:r>
                        <a:rPr lang="tr-TR" b="1" i="1" dirty="0" err="1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88814"/>
                  </a:ext>
                </a:extLst>
              </a:tr>
              <a:tr h="335929">
                <a:tc>
                  <a:txBody>
                    <a:bodyPr/>
                    <a:lstStyle/>
                    <a:p>
                      <a:r>
                        <a:rPr lang="tr-TR" b="1" i="1" dirty="0"/>
                        <a:t>Cinsiyet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Kategorik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099446"/>
                  </a:ext>
                </a:extLst>
              </a:tr>
              <a:tr h="335929">
                <a:tc>
                  <a:txBody>
                    <a:bodyPr/>
                    <a:lstStyle/>
                    <a:p>
                      <a:r>
                        <a:rPr lang="tr-TR" b="1" i="1" dirty="0"/>
                        <a:t>Fakülte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Kategorik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7693673"/>
                  </a:ext>
                </a:extLst>
              </a:tr>
              <a:tr h="335929">
                <a:tc>
                  <a:txBody>
                    <a:bodyPr/>
                    <a:lstStyle/>
                    <a:p>
                      <a:r>
                        <a:rPr lang="tr-TR" b="1" i="1" dirty="0"/>
                        <a:t>Bölüm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Kategorik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357516"/>
                  </a:ext>
                </a:extLst>
              </a:tr>
              <a:tr h="335929">
                <a:tc>
                  <a:txBody>
                    <a:bodyPr/>
                    <a:lstStyle/>
                    <a:p>
                      <a:r>
                        <a:rPr lang="tr-TR" b="1" i="1" dirty="0"/>
                        <a:t>Kitap-</a:t>
                      </a:r>
                      <a:r>
                        <a:rPr lang="tr-TR" b="1" i="1" dirty="0" err="1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Kategorik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043008"/>
                  </a:ext>
                </a:extLst>
              </a:tr>
              <a:tr h="335929">
                <a:tc>
                  <a:txBody>
                    <a:bodyPr/>
                    <a:lstStyle/>
                    <a:p>
                      <a:r>
                        <a:rPr lang="tr-TR" b="1" i="1" dirty="0" err="1"/>
                        <a:t>Lc_Kategori</a:t>
                      </a:r>
                      <a:endParaRPr lang="tr-TR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Hedef Değişken(Kategorik)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0675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FD436F83-9E84-B16D-487B-49F3F7C12B68}"/>
              </a:ext>
            </a:extLst>
          </p:cNvPr>
          <p:cNvSpPr txBox="1"/>
          <p:nvPr/>
        </p:nvSpPr>
        <p:spPr>
          <a:xfrm>
            <a:off x="338640" y="79244"/>
            <a:ext cx="8396158" cy="5327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525"/>
              </a:spcBef>
            </a:pPr>
            <a:r>
              <a:rPr lang="en-US" dirty="0">
                <a:solidFill>
                  <a:schemeClr val="tx1"/>
                </a:solidFill>
                <a:latin typeface="Segoe UI"/>
                <a:cs typeface="Segoe UI"/>
              </a:rPr>
              <a:t>Veri </a:t>
            </a:r>
            <a:r>
              <a:rPr lang="en-US" err="1">
                <a:solidFill>
                  <a:schemeClr val="tx1"/>
                </a:solidFill>
                <a:latin typeface="Segoe UI"/>
                <a:cs typeface="Segoe UI"/>
              </a:rPr>
              <a:t>setimizde</a:t>
            </a:r>
            <a:r>
              <a:rPr lang="en-US" dirty="0">
                <a:solidFill>
                  <a:schemeClr val="tx1"/>
                </a:solidFill>
                <a:latin typeface="Segoe UI"/>
                <a:cs typeface="Segoe UI"/>
              </a:rPr>
              <a:t> </a:t>
            </a:r>
            <a:r>
              <a:rPr lang="en-US" err="1">
                <a:solidFill>
                  <a:schemeClr val="tx1"/>
                </a:solidFill>
                <a:latin typeface="Segoe UI"/>
                <a:cs typeface="Segoe UI"/>
              </a:rPr>
              <a:t>LC_kategori</a:t>
            </a:r>
            <a:r>
              <a:rPr lang="en-US" dirty="0">
                <a:solidFill>
                  <a:schemeClr val="tx1"/>
                </a:solidFill>
                <a:latin typeface="Segoe UI"/>
                <a:cs typeface="Segoe UI"/>
              </a:rPr>
              <a:t> </a:t>
            </a:r>
            <a:r>
              <a:rPr lang="en-US" err="1">
                <a:solidFill>
                  <a:schemeClr val="tx1"/>
                </a:solidFill>
                <a:latin typeface="Segoe UI"/>
                <a:cs typeface="Segoe UI"/>
              </a:rPr>
              <a:t>denegesiz</a:t>
            </a:r>
            <a:r>
              <a:rPr lang="en-US" dirty="0">
                <a:solidFill>
                  <a:schemeClr val="tx1"/>
                </a:solidFill>
                <a:latin typeface="Segoe UI"/>
                <a:cs typeface="Segoe UI"/>
              </a:rPr>
              <a:t> </a:t>
            </a:r>
            <a:r>
              <a:rPr lang="en-US" err="1">
                <a:solidFill>
                  <a:schemeClr val="tx1"/>
                </a:solidFill>
                <a:latin typeface="Segoe UI"/>
                <a:cs typeface="Segoe UI"/>
              </a:rPr>
              <a:t>olduğunu</a:t>
            </a:r>
            <a:r>
              <a:rPr lang="en-US" dirty="0">
                <a:solidFill>
                  <a:schemeClr val="tx1"/>
                </a:solidFill>
                <a:latin typeface="Segoe UI"/>
                <a:cs typeface="Segoe UI"/>
              </a:rPr>
              <a:t> </a:t>
            </a:r>
            <a:r>
              <a:rPr lang="en-US" err="1">
                <a:solidFill>
                  <a:schemeClr val="tx1"/>
                </a:solidFill>
                <a:latin typeface="Segoe UI"/>
                <a:cs typeface="Segoe UI"/>
              </a:rPr>
              <a:t>rahatlıkla</a:t>
            </a:r>
            <a:r>
              <a:rPr lang="en-US" dirty="0">
                <a:solidFill>
                  <a:schemeClr val="tx1"/>
                </a:solidFill>
                <a:latin typeface="Segoe UI"/>
                <a:cs typeface="Segoe UI"/>
              </a:rPr>
              <a:t> </a:t>
            </a:r>
            <a:r>
              <a:rPr lang="en-US" err="1">
                <a:solidFill>
                  <a:schemeClr val="tx1"/>
                </a:solidFill>
                <a:latin typeface="Segoe UI"/>
                <a:cs typeface="Segoe UI"/>
              </a:rPr>
              <a:t>görebiliyoruz</a:t>
            </a:r>
            <a:r>
              <a:rPr lang="en-US" dirty="0">
                <a:solidFill>
                  <a:schemeClr val="tx1"/>
                </a:solidFill>
                <a:latin typeface="Segoe UI"/>
                <a:cs typeface="Segoe UI"/>
              </a:rPr>
              <a:t>.</a:t>
            </a:r>
          </a:p>
          <a:p>
            <a:pPr marL="12700">
              <a:spcBef>
                <a:spcPts val="1525"/>
              </a:spcBef>
            </a:pPr>
            <a:r>
              <a:rPr lang="en-US" sz="800" dirty="0">
                <a:highlight>
                  <a:srgbClr val="FFFFFF"/>
                </a:highlight>
                <a:latin typeface="Consolas"/>
                <a:cs typeface="Segoe UI"/>
              </a:rPr>
              <a:t>Dil ve Edebiyat             24.367371
Tıp                         20.117595
Hukuk                        7.561774
Siyaset Bilimi               7.450134
Felsefe, Psikoloji, Din      7.182197
Bilim                        7.122656
Güzel Sanatlar               7.085442
Eğitim                       6.795177
</a:t>
            </a:r>
            <a:r>
              <a:rPr lang="en-US" sz="800" err="1">
                <a:highlight>
                  <a:srgbClr val="FFFFFF"/>
                </a:highlight>
                <a:latin typeface="Consolas"/>
                <a:cs typeface="Segoe UI"/>
              </a:rPr>
              <a:t>Sosyal</a:t>
            </a:r>
            <a:r>
              <a:rPr lang="en-US" sz="800" dirty="0">
                <a:highlight>
                  <a:srgbClr val="FFFFFF"/>
                </a:highlight>
                <a:latin typeface="Consolas"/>
                <a:cs typeface="Segoe UI"/>
              </a:rPr>
              <a:t> </a:t>
            </a:r>
            <a:r>
              <a:rPr lang="en-US" sz="800" err="1">
                <a:highlight>
                  <a:srgbClr val="FFFFFF"/>
                </a:highlight>
                <a:latin typeface="Consolas"/>
                <a:cs typeface="Segoe UI"/>
              </a:rPr>
              <a:t>Bilimler              6.728193</a:t>
            </a:r>
            <a:r>
              <a:rPr lang="en-US" sz="800" dirty="0">
                <a:highlight>
                  <a:srgbClr val="FFFFFF"/>
                </a:highlight>
                <a:latin typeface="Consolas"/>
                <a:cs typeface="Segoe UI"/>
              </a:rPr>
              <a:t>
</a:t>
            </a:r>
            <a:r>
              <a:rPr lang="en-US" sz="800" err="1">
                <a:highlight>
                  <a:srgbClr val="FFFFFF"/>
                </a:highlight>
                <a:latin typeface="Consolas"/>
                <a:cs typeface="Segoe UI"/>
              </a:rPr>
              <a:t>Diğer</a:t>
            </a:r>
            <a:r>
              <a:rPr lang="en-US" sz="800" dirty="0">
                <a:highlight>
                  <a:srgbClr val="FFFFFF"/>
                </a:highlight>
                <a:latin typeface="Consolas"/>
                <a:cs typeface="Segoe UI"/>
              </a:rPr>
              <a:t>(</a:t>
            </a:r>
            <a:r>
              <a:rPr lang="en-US" sz="800" err="1">
                <a:highlight>
                  <a:srgbClr val="FFFFFF"/>
                </a:highlight>
                <a:latin typeface="Consolas"/>
                <a:cs typeface="Segoe UI"/>
              </a:rPr>
              <a:t>müzik</a:t>
            </a:r>
            <a:r>
              <a:rPr lang="en-US" sz="800" dirty="0">
                <a:highlight>
                  <a:srgbClr val="FFFFFF"/>
                </a:highlight>
                <a:latin typeface="Consolas"/>
                <a:cs typeface="Segoe UI"/>
              </a:rPr>
              <a:t> ,</a:t>
            </a:r>
            <a:r>
              <a:rPr lang="en-US" sz="800" err="1">
                <a:highlight>
                  <a:srgbClr val="FFFFFF"/>
                </a:highlight>
                <a:latin typeface="Consolas"/>
                <a:cs typeface="Segoe UI"/>
              </a:rPr>
              <a:t>askerlik</a:t>
            </a:r>
            <a:r>
              <a:rPr lang="en-US" sz="800" dirty="0">
                <a:highlight>
                  <a:srgbClr val="FFFFFF"/>
                </a:highlight>
                <a:latin typeface="Consolas"/>
                <a:cs typeface="Segoe UI"/>
              </a:rPr>
              <a:t> </a:t>
            </a:r>
            <a:r>
              <a:rPr lang="en-US" sz="800" err="1">
                <a:highlight>
                  <a:srgbClr val="FFFFFF"/>
                </a:highlight>
                <a:latin typeface="Consolas"/>
                <a:cs typeface="Segoe UI"/>
              </a:rPr>
              <a:t>toplam</a:t>
            </a:r>
            <a:r>
              <a:rPr lang="en-US" sz="800" dirty="0">
                <a:highlight>
                  <a:srgbClr val="FFFFFF"/>
                </a:highlight>
                <a:latin typeface="Consolas"/>
                <a:cs typeface="Segoe UI"/>
              </a:rPr>
              <a:t>) 10..</a:t>
            </a:r>
          </a:p>
          <a:p>
            <a:pPr marL="12700">
              <a:spcBef>
                <a:spcPts val="100"/>
              </a:spcBef>
            </a:pPr>
            <a:endParaRPr lang="tr-TR" sz="900" dirty="0"/>
          </a:p>
          <a:p>
            <a:pPr marL="12700">
              <a:spcBef>
                <a:spcPts val="100"/>
              </a:spcBef>
            </a:pPr>
            <a:endParaRPr lang="tr-TR" sz="1400"/>
          </a:p>
          <a:p>
            <a:pPr marL="12700">
              <a:spcBef>
                <a:spcPts val="100"/>
              </a:spcBef>
            </a:pPr>
            <a:r>
              <a:rPr lang="tr-TR" sz="1200" err="1"/>
              <a:t>LC_Kategori</a:t>
            </a:r>
            <a:r>
              <a:rPr lang="tr-TR" sz="1200" dirty="0"/>
              <a:t> hedef değişkeninin sınıf dağılımı incelendiğinde, bazı kitap kategorilerinin veri setinde baskın olduğu, bazı kategorilerin ise oldukça az sayıda örnek içerdiği görülmüştür.</a:t>
            </a:r>
            <a:br>
              <a:rPr lang="tr-TR" sz="1200" dirty="0"/>
            </a:br>
            <a:r>
              <a:rPr lang="tr-TR" sz="1200" dirty="0"/>
              <a:t> Bu durum veri setinin </a:t>
            </a:r>
            <a:r>
              <a:rPr lang="tr-TR" sz="1200" b="1" dirty="0"/>
              <a:t>belirgin şekilde dengesiz (</a:t>
            </a:r>
            <a:r>
              <a:rPr lang="tr-TR" sz="1200" b="1" err="1"/>
              <a:t>imbalanced</a:t>
            </a:r>
            <a:r>
              <a:rPr lang="tr-TR" sz="1200" b="1" dirty="0"/>
              <a:t>)</a:t>
            </a:r>
            <a:r>
              <a:rPr lang="tr-TR" sz="1200" dirty="0"/>
              <a:t> olduğunu göstermektedir.</a:t>
            </a:r>
          </a:p>
          <a:p>
            <a:pPr marL="12700">
              <a:spcBef>
                <a:spcPts val="100"/>
              </a:spcBef>
            </a:pPr>
            <a:r>
              <a:rPr lang="tr-TR" sz="1200" dirty="0">
                <a:solidFill>
                  <a:srgbClr val="000000"/>
                </a:solidFill>
              </a:rPr>
              <a:t>Çözümü:</a:t>
            </a:r>
          </a:p>
          <a:p>
            <a:pPr marL="12700">
              <a:spcBef>
                <a:spcPts val="100"/>
              </a:spcBef>
            </a:pPr>
            <a:r>
              <a:rPr lang="tr-TR" sz="1200" dirty="0">
                <a:solidFill>
                  <a:srgbClr val="000000"/>
                </a:solidFill>
              </a:rPr>
              <a:t>Bu durumu ise </a:t>
            </a:r>
            <a:r>
              <a:rPr lang="tr-TR" sz="1200" err="1">
                <a:solidFill>
                  <a:srgbClr val="000000"/>
                </a:solidFill>
              </a:rPr>
              <a:t>class_weight</a:t>
            </a:r>
            <a:r>
              <a:rPr lang="tr-TR" sz="1200" dirty="0">
                <a:solidFill>
                  <a:srgbClr val="000000"/>
                </a:solidFill>
              </a:rPr>
              <a:t> ='</a:t>
            </a:r>
            <a:r>
              <a:rPr lang="tr-TR" sz="1200" err="1">
                <a:solidFill>
                  <a:srgbClr val="000000"/>
                </a:solidFill>
              </a:rPr>
              <a:t>balanced</a:t>
            </a:r>
            <a:r>
              <a:rPr lang="tr-TR" sz="1200" dirty="0">
                <a:solidFill>
                  <a:srgbClr val="000000"/>
                </a:solidFill>
              </a:rPr>
              <a:t> ' ağırlık vererek çözdük. Çok veriye düşük ve az veriye yüksek ağırlık verdik  yani model sadece Dil ve Edebiyat veya Tıp demeye yönelmesin diye.</a:t>
            </a:r>
          </a:p>
          <a:p>
            <a:pPr algn="l"/>
            <a:endParaRPr lang="tr-TR" dirty="0">
              <a:solidFill>
                <a:srgbClr val="000000"/>
              </a:solidFill>
            </a:endParaRPr>
          </a:p>
        </p:txBody>
      </p:sp>
      <p:pic>
        <p:nvPicPr>
          <p:cNvPr id="3" name="Resim 2" descr="metin, ekran görüntüsü, diyagram, öykü gelişim çizgisi&#10;&#10;Yapay zeka tarafından oluşturulmuş içerik yanlış olabilir.">
            <a:extLst>
              <a:ext uri="{FF2B5EF4-FFF2-40B4-BE49-F238E27FC236}">
                <a16:creationId xmlns:a16="http://schemas.microsoft.com/office/drawing/2014/main" id="{828AFF06-69D5-F403-0D2D-7FA34E660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989" y="392939"/>
            <a:ext cx="4903286" cy="1719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673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150" y="214272"/>
            <a:ext cx="8682448" cy="522450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endParaRPr lang="tr-TR" spc="-30" dirty="0">
              <a:solidFill>
                <a:srgbClr val="595959"/>
              </a:solidFill>
              <a:latin typeface="Arial MT"/>
              <a:cs typeface="Arial MT"/>
            </a:endParaRPr>
          </a:p>
          <a:p>
            <a:pPr marL="12700">
              <a:spcBef>
                <a:spcPts val="100"/>
              </a:spcBef>
            </a:pPr>
            <a:r>
              <a:rPr sz="2000" b="1" spc="-30" dirty="0">
                <a:solidFill>
                  <a:schemeClr val="tx1"/>
                </a:solidFill>
                <a:latin typeface="Arial MT"/>
                <a:cs typeface="Arial MT"/>
              </a:rPr>
              <a:t>Temel</a:t>
            </a:r>
            <a:r>
              <a:rPr sz="2000" b="1" spc="-4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chemeClr val="tx1"/>
                </a:solidFill>
                <a:latin typeface="Arial MT"/>
                <a:cs typeface="Arial MT"/>
              </a:rPr>
              <a:t>feature</a:t>
            </a:r>
            <a:r>
              <a:rPr sz="2000" b="1" spc="-4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chemeClr val="tx1"/>
                </a:solidFill>
                <a:latin typeface="Arial MT"/>
                <a:cs typeface="Arial MT"/>
              </a:rPr>
              <a:t>engineering</a:t>
            </a:r>
            <a:r>
              <a:rPr sz="2000" b="1" spc="-4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tr-TR" sz="2000" b="1" spc="-45" dirty="0">
                <a:solidFill>
                  <a:schemeClr val="tx1"/>
                </a:solidFill>
                <a:latin typeface="Arial MT"/>
                <a:cs typeface="Arial MT"/>
              </a:rPr>
              <a:t>-&gt; </a:t>
            </a:r>
            <a:r>
              <a:rPr lang="tr-TR" spc="-45" dirty="0">
                <a:solidFill>
                  <a:schemeClr val="tx1"/>
                </a:solidFill>
                <a:latin typeface="Arial MT"/>
                <a:cs typeface="Arial MT"/>
              </a:rPr>
              <a:t> Kategorik değişkenleri kodlama (</a:t>
            </a:r>
            <a:r>
              <a:rPr lang="tr-TR" spc="-45" err="1">
                <a:solidFill>
                  <a:schemeClr val="tx1"/>
                </a:solidFill>
                <a:latin typeface="Arial MT"/>
                <a:cs typeface="Arial MT"/>
              </a:rPr>
              <a:t>label</a:t>
            </a:r>
            <a:r>
              <a:rPr lang="tr-TR" spc="-4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tr-TR" spc="-45" err="1">
                <a:solidFill>
                  <a:schemeClr val="tx1"/>
                </a:solidFill>
                <a:latin typeface="Arial MT"/>
                <a:cs typeface="Arial MT"/>
              </a:rPr>
              <a:t>encoding</a:t>
            </a:r>
            <a:r>
              <a:rPr lang="tr-TR" spc="-45" dirty="0">
                <a:solidFill>
                  <a:schemeClr val="tx1"/>
                </a:solidFill>
                <a:latin typeface="Arial MT"/>
                <a:cs typeface="Arial MT"/>
              </a:rPr>
              <a:t>).</a:t>
            </a:r>
          </a:p>
          <a:p>
            <a:pPr marL="12700">
              <a:spcBef>
                <a:spcPts val="100"/>
              </a:spcBef>
            </a:pPr>
            <a:r>
              <a:rPr lang="tr-TR" spc="-45" dirty="0">
                <a:solidFill>
                  <a:schemeClr val="tx1"/>
                </a:solidFill>
                <a:latin typeface="Arial MT"/>
                <a:cs typeface="Arial MT"/>
              </a:rPr>
              <a:t>Çok sınıflı hedef değişken sayısallaştırıldı (</a:t>
            </a:r>
            <a:r>
              <a:rPr lang="tr-TR" spc="-45" err="1">
                <a:solidFill>
                  <a:schemeClr val="tx1"/>
                </a:solidFill>
                <a:latin typeface="Arial MT"/>
                <a:cs typeface="Arial MT"/>
              </a:rPr>
              <a:t>target</a:t>
            </a:r>
            <a:r>
              <a:rPr lang="tr-TR" spc="-4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tr-TR" spc="-45" err="1">
                <a:solidFill>
                  <a:schemeClr val="tx1"/>
                </a:solidFill>
                <a:latin typeface="Arial MT"/>
                <a:cs typeface="Arial MT"/>
              </a:rPr>
              <a:t>encoding</a:t>
            </a:r>
            <a:r>
              <a:rPr lang="tr-TR" spc="-45" dirty="0">
                <a:solidFill>
                  <a:schemeClr val="tx1"/>
                </a:solidFill>
                <a:latin typeface="Arial MT"/>
                <a:cs typeface="Arial MT"/>
              </a:rPr>
              <a:t>)</a:t>
            </a:r>
          </a:p>
          <a:p>
            <a:pPr marL="12700">
              <a:spcBef>
                <a:spcPts val="100"/>
              </a:spcBef>
            </a:pPr>
            <a:r>
              <a:rPr lang="tr-TR" spc="-45" dirty="0">
                <a:solidFill>
                  <a:schemeClr val="tx1"/>
                </a:solidFill>
                <a:latin typeface="Arial MT"/>
                <a:cs typeface="Arial MT"/>
              </a:rPr>
              <a:t>Öğrencinin kaç kitap okudu eklendi -&gt; (</a:t>
            </a:r>
            <a:r>
              <a:rPr lang="tr-TR" spc="-45" err="1">
                <a:solidFill>
                  <a:schemeClr val="tx1"/>
                </a:solidFill>
                <a:latin typeface="Arial MT"/>
              </a:rPr>
              <a:t>Derived</a:t>
            </a:r>
            <a:r>
              <a:rPr lang="tr-TR" spc="-45" dirty="0">
                <a:solidFill>
                  <a:schemeClr val="tx1"/>
                </a:solidFill>
                <a:latin typeface="Arial MT"/>
              </a:rPr>
              <a:t> </a:t>
            </a:r>
            <a:r>
              <a:rPr lang="tr-TR" spc="-45" err="1">
                <a:solidFill>
                  <a:schemeClr val="tx1"/>
                </a:solidFill>
                <a:latin typeface="Arial MT"/>
              </a:rPr>
              <a:t>Feature</a:t>
            </a:r>
            <a:r>
              <a:rPr lang="tr-TR" spc="-45" dirty="0">
                <a:solidFill>
                  <a:schemeClr val="tx1"/>
                </a:solidFill>
                <a:latin typeface="Arial MT"/>
                <a:cs typeface="Arial MT"/>
              </a:rPr>
              <a:t>)</a:t>
            </a:r>
            <a:endParaRPr lang="tr-TR" sz="1800" spc="-45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12700">
              <a:spcBef>
                <a:spcPts val="100"/>
              </a:spcBef>
            </a:pPr>
            <a:endParaRPr lang="tr-TR" spc="-10" dirty="0">
              <a:solidFill>
                <a:schemeClr val="tx1"/>
              </a:solidFill>
              <a:latin typeface="Arial MT"/>
            </a:endParaRPr>
          </a:p>
          <a:p>
            <a:pPr marL="12700">
              <a:spcBef>
                <a:spcPts val="100"/>
              </a:spcBef>
            </a:pPr>
            <a:r>
              <a:rPr lang="tr-TR" sz="2000" b="1" err="1">
                <a:solidFill>
                  <a:schemeClr val="tx1"/>
                </a:solidFill>
              </a:rPr>
              <a:t>Feature</a:t>
            </a:r>
            <a:r>
              <a:rPr lang="tr-TR" sz="2000" b="1" dirty="0">
                <a:solidFill>
                  <a:schemeClr val="tx1"/>
                </a:solidFill>
              </a:rPr>
              <a:t> </a:t>
            </a:r>
            <a:r>
              <a:rPr lang="tr-TR" sz="2000" b="1" err="1">
                <a:solidFill>
                  <a:schemeClr val="tx1"/>
                </a:solidFill>
              </a:rPr>
              <a:t>extraction</a:t>
            </a:r>
            <a:r>
              <a:rPr lang="tr-TR" sz="2000" b="1" dirty="0">
                <a:solidFill>
                  <a:schemeClr val="tx1"/>
                </a:solidFill>
              </a:rPr>
              <a:t> teknikleri -&gt;</a:t>
            </a:r>
            <a:r>
              <a:rPr lang="tr-TR" dirty="0">
                <a:solidFill>
                  <a:schemeClr val="tx1"/>
                </a:solidFill>
              </a:rPr>
              <a:t>  Her öğrenci için tek bir satır (</a:t>
            </a:r>
            <a:r>
              <a:rPr lang="tr-TR" err="1">
                <a:solidFill>
                  <a:schemeClr val="tx1"/>
                </a:solidFill>
              </a:rPr>
              <a:t>Wide</a:t>
            </a:r>
            <a:r>
              <a:rPr lang="tr-TR" dirty="0">
                <a:solidFill>
                  <a:schemeClr val="tx1"/>
                </a:solidFill>
              </a:rPr>
              <a:t> format dönüşümü)</a:t>
            </a:r>
          </a:p>
          <a:p>
            <a:pPr marL="12700">
              <a:spcBef>
                <a:spcPts val="100"/>
              </a:spcBef>
            </a:pPr>
            <a:r>
              <a:rPr lang="tr-TR" dirty="0">
                <a:solidFill>
                  <a:schemeClr val="tx1"/>
                </a:solidFill>
              </a:rPr>
              <a:t>Sıralı okuma bilgisi (1-3 ).</a:t>
            </a:r>
          </a:p>
          <a:p>
            <a:pPr marL="12700">
              <a:spcBef>
                <a:spcPts val="100"/>
              </a:spcBef>
            </a:pPr>
            <a:endParaRPr lang="tr-TR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12700">
              <a:spcBef>
                <a:spcPts val="100"/>
              </a:spcBef>
            </a:pPr>
            <a:r>
              <a:rPr sz="2000" b="1" dirty="0">
                <a:solidFill>
                  <a:schemeClr val="tx1"/>
                </a:solidFill>
                <a:latin typeface="Arial MT"/>
                <a:cs typeface="Arial MT"/>
              </a:rPr>
              <a:t>Train</a:t>
            </a:r>
            <a:r>
              <a:rPr sz="2000" b="1" spc="-4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chemeClr val="tx1"/>
                </a:solidFill>
                <a:latin typeface="Arial MT"/>
                <a:cs typeface="Arial MT"/>
              </a:rPr>
              <a:t>-</a:t>
            </a:r>
            <a:r>
              <a:rPr sz="2000" b="1" dirty="0">
                <a:solidFill>
                  <a:schemeClr val="tx1"/>
                </a:solidFill>
                <a:latin typeface="Arial MT"/>
                <a:cs typeface="Arial MT"/>
              </a:rPr>
              <a:t>test</a:t>
            </a:r>
            <a:r>
              <a:rPr sz="2000" b="1" spc="-4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2000" b="1" err="1">
                <a:solidFill>
                  <a:schemeClr val="tx1"/>
                </a:solidFill>
                <a:latin typeface="Arial MT"/>
                <a:cs typeface="Arial MT"/>
              </a:rPr>
              <a:t>split</a:t>
            </a:r>
            <a:r>
              <a:rPr sz="2000" b="1" spc="-4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chemeClr val="tx1"/>
                </a:solidFill>
                <a:latin typeface="Arial MT"/>
                <a:cs typeface="Arial MT"/>
              </a:rPr>
              <a:t>oranı</a:t>
            </a:r>
            <a:r>
              <a:rPr sz="2000" b="1" spc="-4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tr-TR" sz="2000" b="1" spc="-10" dirty="0">
                <a:solidFill>
                  <a:schemeClr val="tx1"/>
                </a:solidFill>
                <a:latin typeface="Arial MT"/>
                <a:cs typeface="Arial MT"/>
              </a:rPr>
              <a:t>-&gt;</a:t>
            </a:r>
            <a:r>
              <a:rPr lang="tr-TR" spc="-10" dirty="0">
                <a:solidFill>
                  <a:schemeClr val="tx1"/>
                </a:solidFill>
                <a:latin typeface="Arial MT"/>
                <a:cs typeface="Arial MT"/>
              </a:rPr>
              <a:t> %80 eğitim % 20 test olarak ayrılmıştır modelin objektif tahminleme yapabilmesi için </a:t>
            </a:r>
            <a:endParaRPr lang="tr-TR" sz="1800">
              <a:solidFill>
                <a:schemeClr val="tx1"/>
              </a:solidFill>
              <a:latin typeface="Arial MT"/>
            </a:endParaRPr>
          </a:p>
          <a:p>
            <a:pPr marL="12700">
              <a:spcBef>
                <a:spcPts val="1520"/>
              </a:spcBef>
            </a:pPr>
            <a:r>
              <a:rPr sz="2000" b="1" dirty="0">
                <a:solidFill>
                  <a:schemeClr val="tx1"/>
                </a:solidFill>
                <a:latin typeface="Arial MT"/>
                <a:cs typeface="Arial MT"/>
              </a:rPr>
              <a:t>Performance</a:t>
            </a:r>
            <a:r>
              <a:rPr sz="2000" b="1" spc="-3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chemeClr val="tx1"/>
                </a:solidFill>
                <a:latin typeface="Arial MT"/>
                <a:cs typeface="Arial MT"/>
              </a:rPr>
              <a:t>metrikler</a:t>
            </a:r>
            <a:r>
              <a:rPr sz="2000" b="1" spc="-2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chemeClr val="tx1"/>
                </a:solidFill>
                <a:latin typeface="Arial MT"/>
                <a:cs typeface="Arial MT"/>
              </a:rPr>
              <a:t>nelerdir?</a:t>
            </a:r>
            <a:r>
              <a:rPr sz="1800" spc="-2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tr-TR" sz="2000" b="1" err="1">
                <a:solidFill>
                  <a:schemeClr val="tx1"/>
                </a:solidFill>
                <a:latin typeface="Arial MT"/>
                <a:cs typeface="Arial MT"/>
              </a:rPr>
              <a:t>Accuracy</a:t>
            </a:r>
            <a:r>
              <a:rPr lang="tr-TR" sz="2000" b="1" dirty="0">
                <a:solidFill>
                  <a:schemeClr val="tx1"/>
                </a:solidFill>
                <a:latin typeface="Arial MT"/>
                <a:cs typeface="Arial MT"/>
              </a:rPr>
              <a:t> -&gt;</a:t>
            </a:r>
            <a:r>
              <a:rPr lang="tr-TR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tr-TR" sz="1600" dirty="0">
                <a:solidFill>
                  <a:schemeClr val="tx1"/>
                </a:solidFill>
                <a:latin typeface="Arial MT"/>
                <a:cs typeface="Arial MT"/>
              </a:rPr>
              <a:t>modelin gerçek doğruluğu</a:t>
            </a:r>
            <a:endParaRPr lang="tr-TR" sz="1600" spc="-10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12700">
              <a:spcBef>
                <a:spcPts val="1520"/>
              </a:spcBef>
            </a:pPr>
            <a:r>
              <a:rPr lang="tr-TR" dirty="0">
                <a:solidFill>
                  <a:schemeClr val="tx1"/>
                </a:solidFill>
                <a:latin typeface="Arial MT"/>
                <a:cs typeface="Arial MT"/>
              </a:rPr>
              <a:t> </a:t>
            </a:r>
            <a:r>
              <a:rPr lang="tr-TR" sz="2000" b="1" dirty="0">
                <a:solidFill>
                  <a:schemeClr val="tx1"/>
                </a:solidFill>
                <a:latin typeface="Arial MT"/>
                <a:cs typeface="Arial MT"/>
              </a:rPr>
              <a:t>F1 </a:t>
            </a:r>
            <a:r>
              <a:rPr lang="tr-TR" sz="2000" b="1" err="1">
                <a:solidFill>
                  <a:schemeClr val="tx1"/>
                </a:solidFill>
                <a:latin typeface="Arial MT"/>
                <a:cs typeface="Arial MT"/>
              </a:rPr>
              <a:t>score</a:t>
            </a:r>
            <a:r>
              <a:rPr lang="tr-TR" sz="2000" b="1" dirty="0">
                <a:solidFill>
                  <a:schemeClr val="tx1"/>
                </a:solidFill>
                <a:latin typeface="Arial MT"/>
                <a:cs typeface="Arial MT"/>
              </a:rPr>
              <a:t> -&gt;</a:t>
            </a:r>
            <a:r>
              <a:rPr lang="tr-TR" dirty="0">
                <a:solidFill>
                  <a:schemeClr val="tx1"/>
                </a:solidFill>
                <a:latin typeface="Arial MT"/>
                <a:cs typeface="Arial MT"/>
              </a:rPr>
              <a:t>  </a:t>
            </a:r>
            <a:r>
              <a:rPr lang="tr-TR" sz="1600" dirty="0">
                <a:solidFill>
                  <a:schemeClr val="tx1"/>
                </a:solidFill>
                <a:latin typeface="Arial MT"/>
                <a:cs typeface="Arial MT"/>
              </a:rPr>
              <a:t>Dengesiz veri seti nedeniyle model </a:t>
            </a:r>
            <a:r>
              <a:rPr lang="tr-TR" sz="1600" err="1">
                <a:solidFill>
                  <a:schemeClr val="tx1"/>
                </a:solidFill>
                <a:latin typeface="Arial MT"/>
                <a:cs typeface="Arial MT"/>
              </a:rPr>
              <a:t>performası</a:t>
            </a:r>
            <a:r>
              <a:rPr lang="tr-TR" sz="1600" dirty="0">
                <a:solidFill>
                  <a:schemeClr val="tx1"/>
                </a:solidFill>
                <a:latin typeface="Arial MT"/>
                <a:cs typeface="Arial MT"/>
              </a:rPr>
              <a:t> için F1 </a:t>
            </a:r>
            <a:r>
              <a:rPr lang="tr-TR" sz="1600" err="1">
                <a:solidFill>
                  <a:schemeClr val="tx1"/>
                </a:solidFill>
                <a:latin typeface="Arial MT"/>
                <a:cs typeface="Arial MT"/>
              </a:rPr>
              <a:t>score</a:t>
            </a:r>
            <a:r>
              <a:rPr lang="tr-TR" sz="1600" dirty="0">
                <a:solidFill>
                  <a:schemeClr val="tx1"/>
                </a:solidFill>
                <a:latin typeface="Arial MT"/>
                <a:cs typeface="Arial MT"/>
              </a:rPr>
              <a:t> kullanıldı</a:t>
            </a:r>
            <a:endParaRPr lang="tr-TR" sz="1600" spc="-10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12700">
              <a:spcBef>
                <a:spcPts val="1520"/>
              </a:spcBef>
            </a:pPr>
            <a:r>
              <a:rPr lang="tr-TR" sz="2000" b="1" dirty="0">
                <a:solidFill>
                  <a:schemeClr val="tx1"/>
                </a:solidFill>
                <a:latin typeface="Arial MT"/>
                <a:cs typeface="Arial MT"/>
              </a:rPr>
              <a:t>Precision -&gt;</a:t>
            </a:r>
            <a:r>
              <a:rPr lang="tr-TR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tr-TR" sz="1600" dirty="0">
                <a:solidFill>
                  <a:schemeClr val="tx1"/>
                </a:solidFill>
                <a:latin typeface="Arial MT"/>
                <a:cs typeface="Arial MT"/>
              </a:rPr>
              <a:t>Modelin pozitif dediği tahminlerin </a:t>
            </a:r>
            <a:r>
              <a:rPr lang="tr-TR" sz="1600" err="1">
                <a:solidFill>
                  <a:schemeClr val="tx1"/>
                </a:solidFill>
                <a:latin typeface="Arial MT"/>
                <a:cs typeface="Arial MT"/>
              </a:rPr>
              <a:t>nekadarı</a:t>
            </a:r>
            <a:r>
              <a:rPr lang="tr-TR" sz="1600" dirty="0">
                <a:solidFill>
                  <a:schemeClr val="tx1"/>
                </a:solidFill>
                <a:latin typeface="Arial MT"/>
                <a:cs typeface="Arial MT"/>
              </a:rPr>
              <a:t> doğru</a:t>
            </a:r>
            <a:endParaRPr lang="tr-TR" sz="1600" spc="-10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12700">
              <a:spcBef>
                <a:spcPts val="1520"/>
              </a:spcBef>
            </a:pPr>
            <a:r>
              <a:rPr lang="tr-TR" sz="2000" b="1" dirty="0">
                <a:solidFill>
                  <a:schemeClr val="tx1"/>
                </a:solidFill>
                <a:latin typeface="Arial MT"/>
                <a:cs typeface="Arial MT"/>
              </a:rPr>
              <a:t> </a:t>
            </a:r>
            <a:r>
              <a:rPr lang="tr-TR" sz="2000" b="1" err="1">
                <a:solidFill>
                  <a:schemeClr val="tx1"/>
                </a:solidFill>
                <a:latin typeface="Arial MT"/>
                <a:cs typeface="Arial MT"/>
              </a:rPr>
              <a:t>Recall</a:t>
            </a:r>
            <a:r>
              <a:rPr lang="tr-TR" sz="2000" b="1" dirty="0">
                <a:solidFill>
                  <a:schemeClr val="tx1"/>
                </a:solidFill>
                <a:latin typeface="Arial MT"/>
                <a:cs typeface="Arial MT"/>
              </a:rPr>
              <a:t> -&gt; </a:t>
            </a:r>
            <a:r>
              <a:rPr lang="tr-TR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tr-TR" sz="1600" dirty="0">
                <a:solidFill>
                  <a:schemeClr val="tx1"/>
                </a:solidFill>
                <a:latin typeface="Arial MT"/>
                <a:cs typeface="Arial MT"/>
              </a:rPr>
              <a:t>Gerçek sınıfların ne kadarını yakaladığını gösterir.</a:t>
            </a:r>
            <a:endParaRPr sz="1600" spc="-10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3074" y="292560"/>
            <a:ext cx="7860030" cy="4887428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chemeClr val="tx1"/>
                </a:solidFill>
                <a:latin typeface="Arial MT"/>
                <a:cs typeface="Arial MT"/>
              </a:rPr>
              <a:t>Best</a:t>
            </a:r>
            <a:r>
              <a:rPr sz="2000" b="1" spc="-2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chemeClr val="tx1"/>
                </a:solidFill>
                <a:latin typeface="Arial MT"/>
                <a:cs typeface="Arial MT"/>
              </a:rPr>
              <a:t>Model</a:t>
            </a:r>
            <a:r>
              <a:rPr sz="2000" b="1" spc="-2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chemeClr val="tx1"/>
                </a:solidFill>
                <a:latin typeface="Arial MT"/>
                <a:cs typeface="Arial MT"/>
              </a:rPr>
              <a:t>1:</a:t>
            </a:r>
            <a:r>
              <a:rPr sz="2000" b="1" spc="-1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chemeClr val="tx1"/>
                </a:solidFill>
                <a:latin typeface="Arial MT"/>
                <a:cs typeface="Arial MT"/>
              </a:rPr>
              <a:t>XGBoost</a:t>
            </a:r>
            <a:endParaRPr lang="tr-TR" sz="2000" b="1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12700">
              <a:spcBef>
                <a:spcPts val="1525"/>
              </a:spcBef>
            </a:pPr>
            <a:r>
              <a:rPr sz="1800" dirty="0">
                <a:solidFill>
                  <a:schemeClr val="tx1"/>
                </a:solidFill>
                <a:latin typeface="Arial MT"/>
                <a:cs typeface="Arial MT"/>
              </a:rPr>
              <a:t>Model </a:t>
            </a:r>
            <a:r>
              <a:rPr lang="tr-TR" dirty="0">
                <a:solidFill>
                  <a:schemeClr val="tx1"/>
                </a:solidFill>
                <a:latin typeface="Arial MT"/>
                <a:cs typeface="Arial MT"/>
              </a:rPr>
              <a:t>geliştirme </a:t>
            </a:r>
            <a:r>
              <a:rPr lang="tr-TR" err="1">
                <a:solidFill>
                  <a:schemeClr val="tx1"/>
                </a:solidFill>
                <a:latin typeface="Arial MT"/>
                <a:cs typeface="Arial MT"/>
              </a:rPr>
              <a:t>süreinde</a:t>
            </a:r>
            <a:r>
              <a:rPr lang="tr-TR" dirty="0">
                <a:solidFill>
                  <a:schemeClr val="tx1"/>
                </a:solidFill>
                <a:latin typeface="Arial MT"/>
                <a:cs typeface="Arial MT"/>
              </a:rPr>
              <a:t> veri ön işleme , özellik çıkarımı(</a:t>
            </a:r>
            <a:r>
              <a:rPr lang="tr-TR" err="1">
                <a:solidFill>
                  <a:schemeClr val="tx1"/>
                </a:solidFill>
                <a:latin typeface="Arial MT"/>
                <a:cs typeface="Arial MT"/>
              </a:rPr>
              <a:t>feature</a:t>
            </a:r>
            <a:r>
              <a:rPr lang="tr-TR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tr-TR" err="1">
                <a:solidFill>
                  <a:schemeClr val="tx1"/>
                </a:solidFill>
                <a:latin typeface="Arial MT"/>
                <a:cs typeface="Arial MT"/>
              </a:rPr>
              <a:t>extraction</a:t>
            </a:r>
            <a:r>
              <a:rPr lang="tr-TR" dirty="0">
                <a:solidFill>
                  <a:schemeClr val="tx1"/>
                </a:solidFill>
                <a:latin typeface="Arial MT"/>
                <a:cs typeface="Arial MT"/>
              </a:rPr>
              <a:t>), özellik mühendisliği (</a:t>
            </a:r>
            <a:r>
              <a:rPr lang="tr-TR" err="1">
                <a:solidFill>
                  <a:schemeClr val="tx1"/>
                </a:solidFill>
                <a:latin typeface="Arial MT"/>
                <a:cs typeface="Arial MT"/>
              </a:rPr>
              <a:t>feature</a:t>
            </a:r>
            <a:r>
              <a:rPr lang="tr-TR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tr-TR" err="1">
                <a:solidFill>
                  <a:schemeClr val="tx1"/>
                </a:solidFill>
                <a:latin typeface="Arial MT"/>
                <a:cs typeface="Arial MT"/>
              </a:rPr>
              <a:t>engineering</a:t>
            </a:r>
            <a:r>
              <a:rPr lang="tr-TR" dirty="0">
                <a:solidFill>
                  <a:schemeClr val="tx1"/>
                </a:solidFill>
                <a:latin typeface="Arial MT"/>
                <a:cs typeface="Arial MT"/>
              </a:rPr>
              <a:t>) , model seçimi ve </a:t>
            </a:r>
            <a:r>
              <a:rPr lang="tr-TR" err="1">
                <a:solidFill>
                  <a:schemeClr val="tx1"/>
                </a:solidFill>
                <a:latin typeface="Arial MT"/>
                <a:cs typeface="Arial MT"/>
              </a:rPr>
              <a:t>hyperparametre</a:t>
            </a:r>
            <a:r>
              <a:rPr lang="tr-TR" dirty="0">
                <a:solidFill>
                  <a:schemeClr val="tx1"/>
                </a:solidFill>
                <a:latin typeface="Arial MT"/>
                <a:cs typeface="Arial MT"/>
              </a:rPr>
              <a:t> adımları ayarlanmıştır. </a:t>
            </a:r>
            <a:endParaRPr sz="1800" spc="-10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12700" marR="5080">
              <a:lnSpc>
                <a:spcPct val="170600"/>
              </a:lnSpc>
            </a:pPr>
            <a:r>
              <a:rPr sz="1800" err="1">
                <a:solidFill>
                  <a:schemeClr val="tx1"/>
                </a:solidFill>
                <a:latin typeface="Arial MT"/>
                <a:cs typeface="Arial MT"/>
              </a:rPr>
              <a:t>Hyper</a:t>
            </a:r>
            <a:r>
              <a:rPr sz="1800" spc="-1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800" err="1">
                <a:solidFill>
                  <a:schemeClr val="tx1"/>
                </a:solidFill>
                <a:latin typeface="Arial MT"/>
                <a:cs typeface="Arial MT"/>
              </a:rPr>
              <a:t>parametreler:</a:t>
            </a:r>
            <a:r>
              <a:rPr lang="tr-TR" spc="-15" err="1">
                <a:solidFill>
                  <a:schemeClr val="tx1"/>
                </a:solidFill>
                <a:latin typeface="Arial MT"/>
                <a:cs typeface="Arial MT"/>
              </a:rPr>
              <a:t>Bu</a:t>
            </a:r>
            <a:r>
              <a:rPr lang="tr-TR" spc="-15" dirty="0">
                <a:solidFill>
                  <a:schemeClr val="tx1"/>
                </a:solidFill>
                <a:latin typeface="Arial MT"/>
                <a:cs typeface="Arial MT"/>
              </a:rPr>
              <a:t> projede manuel </a:t>
            </a:r>
            <a:r>
              <a:rPr lang="tr-TR" spc="-15" err="1">
                <a:solidFill>
                  <a:schemeClr val="tx1"/>
                </a:solidFill>
                <a:latin typeface="Arial MT"/>
                <a:cs typeface="Arial MT"/>
              </a:rPr>
              <a:t>hyper</a:t>
            </a:r>
            <a:r>
              <a:rPr lang="tr-TR" spc="-15" dirty="0">
                <a:solidFill>
                  <a:schemeClr val="tx1"/>
                </a:solidFill>
                <a:latin typeface="Arial MT"/>
                <a:cs typeface="Arial MT"/>
              </a:rPr>
              <a:t> parametreler ayarlanmıştır.</a:t>
            </a:r>
            <a:endParaRPr lang="tr-TR" spc="-10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342900" indent="-342900" algn="l">
              <a:buChar char="•"/>
            </a:pPr>
            <a:r>
              <a:rPr lang="tr-TR" err="1">
                <a:latin typeface="Arial MT"/>
              </a:rPr>
              <a:t>n_estimators</a:t>
            </a:r>
            <a:r>
              <a:rPr lang="tr-TR" dirty="0">
                <a:latin typeface="Arial MT"/>
              </a:rPr>
              <a:t>: Ağaç sayısı</a:t>
            </a:r>
          </a:p>
          <a:p>
            <a:pPr marL="342900" indent="-342900" algn="l">
              <a:buChar char="•"/>
            </a:pPr>
            <a:r>
              <a:rPr lang="tr-TR" err="1">
                <a:latin typeface="Arial MT"/>
              </a:rPr>
              <a:t>max_depth</a:t>
            </a:r>
            <a:r>
              <a:rPr lang="tr-TR" dirty="0">
                <a:latin typeface="Arial MT"/>
              </a:rPr>
              <a:t>: Ağaç derinliği</a:t>
            </a:r>
            <a:endParaRPr lang="tr-TR">
              <a:latin typeface="Arial MT"/>
            </a:endParaRPr>
          </a:p>
          <a:p>
            <a:pPr marL="342900" indent="-342900" algn="l">
              <a:buChar char="•"/>
            </a:pPr>
            <a:r>
              <a:rPr lang="tr-TR" err="1">
                <a:latin typeface="Arial MT"/>
              </a:rPr>
              <a:t>learning_rate</a:t>
            </a:r>
            <a:r>
              <a:rPr lang="tr-TR" dirty="0">
                <a:latin typeface="Arial MT"/>
              </a:rPr>
              <a:t>: Öğrenme hızı</a:t>
            </a:r>
          </a:p>
          <a:p>
            <a:pPr marL="342900" indent="-342900" algn="l">
              <a:buChar char="•"/>
            </a:pPr>
            <a:r>
              <a:rPr lang="tr-TR" err="1">
                <a:latin typeface="Arial MT"/>
              </a:rPr>
              <a:t>subsample</a:t>
            </a:r>
            <a:r>
              <a:rPr lang="tr-TR" dirty="0">
                <a:latin typeface="Arial MT"/>
              </a:rPr>
              <a:t>: Gözlem örnekleme oranı</a:t>
            </a:r>
          </a:p>
          <a:p>
            <a:pPr marL="342900" indent="-342900" algn="l">
              <a:buChar char="•"/>
            </a:pPr>
            <a:r>
              <a:rPr lang="tr-TR" dirty="0" err="1">
                <a:latin typeface="Arial MT"/>
              </a:rPr>
              <a:t>colsample_bytree</a:t>
            </a:r>
            <a:r>
              <a:rPr lang="tr-TR" dirty="0">
                <a:latin typeface="Arial MT"/>
              </a:rPr>
              <a:t>: Özellik örnekleme oranı    ile </a:t>
            </a:r>
            <a:r>
              <a:rPr lang="tr-TR" dirty="0" err="1">
                <a:latin typeface="Arial MT"/>
              </a:rPr>
              <a:t>overfitting</a:t>
            </a:r>
            <a:r>
              <a:rPr lang="tr-TR" dirty="0">
                <a:latin typeface="Arial MT"/>
              </a:rPr>
              <a:t> engelleme ve model başarısı için kullanılmıştır.</a:t>
            </a:r>
          </a:p>
          <a:p>
            <a:pPr marL="12700" marR="5080">
              <a:lnSpc>
                <a:spcPct val="170600"/>
              </a:lnSpc>
            </a:pPr>
            <a:r>
              <a:rPr lang="tr-TR" sz="2000" b="1" spc="-10" dirty="0">
                <a:solidFill>
                  <a:schemeClr val="tx1"/>
                </a:solidFill>
                <a:latin typeface="Arial MT"/>
                <a:cs typeface="Arial MT"/>
              </a:rPr>
              <a:t> </a:t>
            </a:r>
            <a:r>
              <a:rPr sz="2000" b="1" dirty="0">
                <a:solidFill>
                  <a:schemeClr val="tx1"/>
                </a:solidFill>
                <a:latin typeface="Arial MT"/>
                <a:cs typeface="Arial MT"/>
              </a:rPr>
              <a:t>Feature</a:t>
            </a:r>
            <a:r>
              <a:rPr sz="2000" b="1" spc="-4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chemeClr val="tx1"/>
                </a:solidFill>
                <a:latin typeface="Arial MT"/>
                <a:cs typeface="Arial MT"/>
              </a:rPr>
              <a:t>set:</a:t>
            </a:r>
            <a:r>
              <a:rPr sz="180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tr-TR" spc="-10" dirty="0">
                <a:solidFill>
                  <a:schemeClr val="tx1"/>
                </a:solidFill>
                <a:latin typeface="Arial MT"/>
                <a:cs typeface="Arial MT"/>
              </a:rPr>
              <a:t>Bu projede demografik bilgiler (Cinsiyet , fakülte , bölüm) ve </a:t>
            </a:r>
            <a:r>
              <a:rPr lang="tr-TR" spc="-10" err="1">
                <a:solidFill>
                  <a:schemeClr val="tx1"/>
                </a:solidFill>
                <a:latin typeface="Arial MT"/>
                <a:cs typeface="Arial MT"/>
              </a:rPr>
              <a:t>davranışal</a:t>
            </a:r>
            <a:r>
              <a:rPr lang="tr-TR" spc="-10" dirty="0">
                <a:solidFill>
                  <a:schemeClr val="tx1"/>
                </a:solidFill>
                <a:latin typeface="Arial MT"/>
                <a:cs typeface="Arial MT"/>
              </a:rPr>
              <a:t> özellikler (kitap1,kitap2,kitap3) kullanılmıştır.</a:t>
            </a:r>
          </a:p>
          <a:p>
            <a:pPr marL="12700" marR="5080">
              <a:lnSpc>
                <a:spcPct val="170600"/>
              </a:lnSpc>
            </a:pPr>
            <a:endParaRPr lang="tr-TR" spc="-10" dirty="0">
              <a:solidFill>
                <a:srgbClr val="595959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32ACB609-17FD-2B34-783F-03B56EB4BA20}"/>
              </a:ext>
            </a:extLst>
          </p:cNvPr>
          <p:cNvSpPr txBox="1"/>
          <p:nvPr/>
        </p:nvSpPr>
        <p:spPr>
          <a:xfrm>
            <a:off x="477556" y="-3914"/>
            <a:ext cx="8181060" cy="57092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950"/>
              </a:lnSpc>
            </a:pPr>
            <a:r>
              <a:rPr lang="en-US" sz="2400" b="1" baseline="0" dirty="0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Best Model </a:t>
            </a:r>
            <a:r>
              <a:rPr lang="en-US" sz="2400" b="1" dirty="0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2</a:t>
            </a:r>
            <a:r>
              <a:rPr lang="en-US" sz="2400" b="1" baseline="0" dirty="0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: </a:t>
            </a:r>
            <a:r>
              <a:rPr lang="en-US" sz="2400" b="1" dirty="0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 MLP </a:t>
            </a:r>
            <a:r>
              <a:rPr lang="en-US" sz="2400" b="1" err="1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Modeli</a:t>
            </a:r>
            <a:endParaRPr lang="en-US" sz="2400" b="1">
              <a:solidFill>
                <a:schemeClr val="tx1"/>
              </a:solidFill>
              <a:latin typeface="Arial MT"/>
              <a:ea typeface="Segoe UI"/>
              <a:cs typeface="Segoe UI"/>
            </a:endParaRPr>
          </a:p>
          <a:p>
            <a:pPr>
              <a:lnSpc>
                <a:spcPts val="1950"/>
              </a:lnSpc>
            </a:pPr>
            <a:endParaRPr lang="en-US" sz="2400" b="1" dirty="0">
              <a:solidFill>
                <a:srgbClr val="595959"/>
              </a:solidFill>
              <a:latin typeface="Arial MT"/>
              <a:ea typeface="Segoe UI"/>
              <a:cs typeface="Segoe UI"/>
            </a:endParaRPr>
          </a:p>
          <a:p>
            <a:pPr rtl="0">
              <a:lnSpc>
                <a:spcPts val="1950"/>
              </a:lnSpc>
            </a:pPr>
            <a:r>
              <a:rPr lang="en-US" sz="1600" dirty="0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MLP </a:t>
            </a:r>
            <a:r>
              <a:rPr lang="en-US" sz="1600" err="1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modeli</a:t>
            </a:r>
            <a:r>
              <a:rPr lang="en-US" sz="1600" dirty="0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 </a:t>
            </a:r>
            <a:r>
              <a:rPr lang="en-US" sz="1600" err="1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öğrencilerin</a:t>
            </a:r>
            <a:r>
              <a:rPr lang="en-US" sz="1600" dirty="0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 </a:t>
            </a:r>
            <a:r>
              <a:rPr lang="en-US" sz="1600" err="1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özelliklerine</a:t>
            </a:r>
            <a:r>
              <a:rPr lang="en-US" sz="1600" dirty="0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 </a:t>
            </a:r>
            <a:r>
              <a:rPr lang="en-US" sz="1600" err="1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bağlı</a:t>
            </a:r>
            <a:r>
              <a:rPr lang="en-US" sz="1600" dirty="0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 </a:t>
            </a:r>
            <a:r>
              <a:rPr lang="en-US" sz="1600" err="1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olarak</a:t>
            </a:r>
            <a:r>
              <a:rPr lang="en-US" sz="1600" dirty="0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 </a:t>
            </a:r>
            <a:r>
              <a:rPr lang="en-US" sz="1600" err="1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çok</a:t>
            </a:r>
            <a:r>
              <a:rPr lang="en-US" sz="1600" dirty="0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 </a:t>
            </a:r>
            <a:r>
              <a:rPr lang="en-US" sz="1600" err="1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katmanlı</a:t>
            </a:r>
            <a:r>
              <a:rPr lang="en-US" sz="1600" dirty="0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 </a:t>
            </a:r>
            <a:r>
              <a:rPr lang="en-US" sz="1600" err="1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bir</a:t>
            </a:r>
            <a:r>
              <a:rPr lang="en-US" sz="1600" dirty="0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 </a:t>
            </a:r>
            <a:r>
              <a:rPr lang="en-US" sz="1600" err="1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yapay</a:t>
            </a:r>
            <a:r>
              <a:rPr lang="en-US" sz="1600" dirty="0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 </a:t>
            </a:r>
            <a:r>
              <a:rPr lang="en-US" sz="1600" err="1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sinir</a:t>
            </a:r>
            <a:r>
              <a:rPr lang="en-US" sz="1600" dirty="0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 </a:t>
            </a:r>
            <a:r>
              <a:rPr lang="en-US" sz="1600" err="1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ağı</a:t>
            </a:r>
            <a:r>
              <a:rPr lang="en-US" sz="1600" dirty="0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 </a:t>
            </a:r>
            <a:r>
              <a:rPr lang="en-US" sz="1600" err="1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olarak</a:t>
            </a:r>
            <a:r>
              <a:rPr lang="en-US" sz="1600" dirty="0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 </a:t>
            </a:r>
            <a:r>
              <a:rPr lang="en-US" sz="1600" err="1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geliştirilmiştir</a:t>
            </a:r>
            <a:r>
              <a:rPr lang="tr-TR" sz="1600" baseline="0" dirty="0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.</a:t>
            </a:r>
            <a:r>
              <a:rPr lang="tr-TR" sz="1600" dirty="0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 Özellik değişkenleri </a:t>
            </a:r>
            <a:r>
              <a:rPr lang="tr-TR" sz="1600" err="1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label</a:t>
            </a:r>
            <a:r>
              <a:rPr lang="tr-TR" sz="1600" dirty="0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 </a:t>
            </a:r>
            <a:r>
              <a:rPr lang="tr-TR" sz="1600" err="1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encoding</a:t>
            </a:r>
            <a:r>
              <a:rPr lang="tr-TR" sz="1600" dirty="0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 haline gelmiştir.</a:t>
            </a:r>
          </a:p>
          <a:p>
            <a:pPr>
              <a:lnSpc>
                <a:spcPts val="1950"/>
              </a:lnSpc>
            </a:pPr>
            <a:r>
              <a:rPr lang="tr-TR" sz="1600" dirty="0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Özellikler ölçeklendirilmiştir (</a:t>
            </a:r>
            <a:r>
              <a:rPr lang="tr-TR" sz="1600" err="1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StandartScaler</a:t>
            </a:r>
            <a:r>
              <a:rPr lang="tr-TR" sz="1600" dirty="0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). </a:t>
            </a:r>
            <a:r>
              <a:rPr lang="tr-TR" sz="1600" baseline="0" dirty="0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 </a:t>
            </a:r>
            <a:r>
              <a:rPr lang="en-US" sz="1600" dirty="0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​</a:t>
            </a:r>
            <a:endParaRPr lang="en-US" sz="1600" dirty="0">
              <a:solidFill>
                <a:schemeClr val="tx1"/>
              </a:solidFill>
            </a:endParaRPr>
          </a:p>
          <a:p>
            <a:pPr rtl="0">
              <a:lnSpc>
                <a:spcPts val="3375"/>
              </a:lnSpc>
            </a:pPr>
            <a:r>
              <a:rPr lang="tr-TR" sz="1800" b="1" baseline="0" err="1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Hyper</a:t>
            </a:r>
            <a:r>
              <a:rPr lang="tr-TR" sz="1800" b="1" baseline="0" dirty="0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 </a:t>
            </a:r>
            <a:r>
              <a:rPr lang="tr-TR" sz="1800" b="1" baseline="0" err="1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parametreler:</a:t>
            </a:r>
            <a:r>
              <a:rPr lang="tr-TR" sz="1600" err="1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Tuning</a:t>
            </a:r>
            <a:r>
              <a:rPr lang="tr-TR" sz="1600" dirty="0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 tekniği olarak </a:t>
            </a:r>
            <a:r>
              <a:rPr lang="tr-TR" sz="1600" err="1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GridSearchCV</a:t>
            </a:r>
            <a:r>
              <a:rPr lang="tr-TR" sz="1600" dirty="0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 uygulanmıştır.</a:t>
            </a:r>
          </a:p>
          <a:p>
            <a:pPr algn="l" rtl="0">
              <a:buFont typeface=""/>
              <a:buChar char="•"/>
            </a:pPr>
            <a:r>
              <a:rPr lang="tr-TR" dirty="0" err="1">
                <a:latin typeface="Consolas"/>
                <a:ea typeface="Arial"/>
                <a:cs typeface="Arial"/>
              </a:rPr>
              <a:t>hidden_layer_sizes</a:t>
            </a:r>
            <a:r>
              <a:rPr lang="tr-TR" dirty="0">
                <a:latin typeface="Consolas"/>
                <a:ea typeface="Arial"/>
                <a:cs typeface="Arial"/>
              </a:rPr>
              <a:t> </a:t>
            </a:r>
            <a:r>
              <a:rPr lang="tr-TR" dirty="0">
                <a:latin typeface="Consolas"/>
                <a:cs typeface="Arial"/>
              </a:rPr>
              <a:t>= </a:t>
            </a:r>
            <a:r>
              <a:rPr lang="tr-TR" dirty="0"/>
              <a:t>Gizli </a:t>
            </a:r>
            <a:r>
              <a:rPr lang="en-US" dirty="0" err="1"/>
              <a:t>katman</a:t>
            </a:r>
            <a:r>
              <a:rPr lang="tr-TR" dirty="0"/>
              <a:t> sayısı ve nöron sayıları</a:t>
            </a:r>
          </a:p>
          <a:p>
            <a:pPr algn="l">
              <a:buFont typeface=""/>
              <a:buChar char="•"/>
            </a:pPr>
            <a:r>
              <a:rPr lang="tr-TR" dirty="0" err="1">
                <a:latin typeface="Consolas"/>
                <a:cs typeface="Arial"/>
              </a:rPr>
              <a:t>Activation</a:t>
            </a:r>
            <a:r>
              <a:rPr lang="tr-TR" dirty="0">
                <a:latin typeface="Consolas"/>
                <a:cs typeface="Arial"/>
              </a:rPr>
              <a:t> = </a:t>
            </a:r>
            <a:r>
              <a:rPr lang="tr-TR" dirty="0"/>
              <a:t>Aktivasyon fonksiyonu (</a:t>
            </a:r>
            <a:r>
              <a:rPr lang="tr-TR" dirty="0" err="1"/>
              <a:t>relu</a:t>
            </a:r>
            <a:r>
              <a:rPr lang="tr-TR" dirty="0"/>
              <a:t>)</a:t>
            </a:r>
            <a:endParaRPr lang="tr-TR"/>
          </a:p>
          <a:p>
            <a:pPr algn="l">
              <a:buFont typeface=""/>
              <a:buChar char="•"/>
            </a:pPr>
            <a:r>
              <a:rPr lang="tr-TR" dirty="0" err="1">
                <a:latin typeface="Consolas"/>
                <a:cs typeface="Arial"/>
              </a:rPr>
              <a:t>Solver</a:t>
            </a:r>
            <a:r>
              <a:rPr lang="tr-TR" dirty="0">
                <a:latin typeface="Consolas"/>
                <a:cs typeface="Arial"/>
              </a:rPr>
              <a:t> = </a:t>
            </a:r>
            <a:r>
              <a:rPr lang="tr-TR" dirty="0"/>
              <a:t>Optimizasyon algoritması (adam)</a:t>
            </a:r>
          </a:p>
          <a:p>
            <a:pPr algn="l">
              <a:buFont typeface=""/>
              <a:buChar char="•"/>
            </a:pPr>
            <a:r>
              <a:rPr lang="tr-TR" dirty="0">
                <a:latin typeface="Consolas"/>
                <a:cs typeface="Arial"/>
              </a:rPr>
              <a:t>Alpha = </a:t>
            </a:r>
            <a:r>
              <a:rPr lang="tr-TR" dirty="0"/>
              <a:t>L2 </a:t>
            </a:r>
            <a:r>
              <a:rPr lang="tr-TR" dirty="0" err="1"/>
              <a:t>regularization</a:t>
            </a:r>
            <a:r>
              <a:rPr lang="tr-TR" dirty="0"/>
              <a:t> katsayısı</a:t>
            </a:r>
            <a:endParaRPr lang="en-US" dirty="0"/>
          </a:p>
          <a:p>
            <a:pPr algn="l">
              <a:buFont typeface=""/>
              <a:buChar char="•"/>
            </a:pPr>
            <a:r>
              <a:rPr lang="tr-TR" dirty="0" err="1">
                <a:latin typeface="Consolas"/>
                <a:ea typeface="Arial"/>
                <a:cs typeface="Arial"/>
              </a:rPr>
              <a:t>learning_rate</a:t>
            </a:r>
            <a:r>
              <a:rPr lang="tr-TR" dirty="0">
                <a:latin typeface="Consolas"/>
                <a:ea typeface="Arial"/>
                <a:cs typeface="Arial"/>
              </a:rPr>
              <a:t> =</a:t>
            </a:r>
            <a:r>
              <a:rPr lang="tr-TR" dirty="0"/>
              <a:t>Öğrenme oranı</a:t>
            </a:r>
            <a:endParaRPr lang="en-US" dirty="0"/>
          </a:p>
          <a:p>
            <a:pPr algn="l">
              <a:buFont typeface=""/>
              <a:buChar char="•"/>
            </a:pPr>
            <a:r>
              <a:rPr lang="tr-TR" dirty="0" err="1">
                <a:latin typeface="Consolas"/>
                <a:ea typeface="Arial"/>
                <a:cs typeface="Arial"/>
              </a:rPr>
              <a:t>max_iter</a:t>
            </a:r>
            <a:r>
              <a:rPr lang="tr-TR" dirty="0">
                <a:latin typeface="Consolas"/>
                <a:ea typeface="Arial"/>
                <a:cs typeface="Arial"/>
              </a:rPr>
              <a:t> </a:t>
            </a:r>
            <a:r>
              <a:rPr lang="tr-TR" dirty="0">
                <a:latin typeface="Consolas"/>
                <a:cs typeface="Arial"/>
              </a:rPr>
              <a:t>= </a:t>
            </a:r>
            <a:r>
              <a:rPr lang="tr-TR" dirty="0"/>
              <a:t>Maksimum </a:t>
            </a:r>
            <a:r>
              <a:rPr lang="tr-TR" dirty="0" err="1"/>
              <a:t>epoch</a:t>
            </a:r>
            <a:r>
              <a:rPr lang="tr-TR" dirty="0"/>
              <a:t> sayısı</a:t>
            </a:r>
            <a:endParaRPr lang="en-US" dirty="0"/>
          </a:p>
          <a:p>
            <a:pPr>
              <a:lnSpc>
                <a:spcPts val="1950"/>
              </a:lnSpc>
            </a:pPr>
            <a:r>
              <a:rPr lang="en-US" dirty="0">
                <a:latin typeface="Arial MT"/>
                <a:ea typeface="Arial"/>
                <a:cs typeface="Arial"/>
              </a:rPr>
              <a:t> </a:t>
            </a:r>
            <a:endParaRPr lang="en-US" sz="1800" dirty="0">
              <a:latin typeface="Arial MT"/>
              <a:ea typeface="Arial"/>
              <a:cs typeface="Arial"/>
            </a:endParaRPr>
          </a:p>
          <a:p>
            <a:pPr algn="l" rtl="0"/>
            <a:r>
              <a:rPr lang="tr-TR" sz="2000" b="1" baseline="0" dirty="0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 </a:t>
            </a:r>
            <a:r>
              <a:rPr lang="en-US" sz="2000" b="1" baseline="0" dirty="0">
                <a:solidFill>
                  <a:schemeClr val="tx1"/>
                </a:solidFill>
                <a:latin typeface="Arial MT"/>
                <a:ea typeface="Segoe UI"/>
                <a:cs typeface="Segoe UI"/>
              </a:rPr>
              <a:t>Feature set:</a:t>
            </a:r>
            <a:r>
              <a:rPr lang="en-US" sz="1800" baseline="0" dirty="0">
                <a:solidFill>
                  <a:srgbClr val="595959"/>
                </a:solidFill>
                <a:latin typeface="Arial MT"/>
                <a:ea typeface="Segoe UI"/>
                <a:cs typeface="Segoe UI"/>
              </a:rPr>
              <a:t> </a:t>
            </a:r>
            <a:r>
              <a:rPr lang="en-US" sz="1800" baseline="0" err="1"/>
              <a:t>Cinsiyet</a:t>
            </a:r>
            <a:r>
              <a:rPr lang="en-US" sz="1800" baseline="0" dirty="0"/>
              <a:t>,</a:t>
            </a:r>
            <a:endParaRPr lang="en-US" dirty="0"/>
          </a:p>
          <a:p>
            <a:pPr algn="l"/>
            <a:r>
              <a:rPr lang="en-US" dirty="0"/>
              <a:t>  </a:t>
            </a:r>
            <a:r>
              <a:rPr lang="en-US" dirty="0" err="1"/>
              <a:t>Fakülte</a:t>
            </a:r>
            <a:r>
              <a:rPr lang="en-US" sz="1800" baseline="0" dirty="0"/>
              <a:t>,</a:t>
            </a:r>
            <a:endParaRPr lang="en-US" dirty="0"/>
          </a:p>
          <a:p>
            <a:pPr algn="l"/>
            <a:r>
              <a:rPr lang="en-US" dirty="0"/>
              <a:t>  </a:t>
            </a:r>
            <a:r>
              <a:rPr lang="en-US" dirty="0" err="1"/>
              <a:t>Bölüm</a:t>
            </a:r>
            <a:r>
              <a:rPr lang="en-US" sz="1800" baseline="0" dirty="0"/>
              <a:t>,</a:t>
            </a:r>
            <a:endParaRPr lang="en-US" dirty="0"/>
          </a:p>
          <a:p>
            <a:pPr>
              <a:lnSpc>
                <a:spcPts val="3375"/>
              </a:lnSpc>
            </a:pPr>
            <a:r>
              <a:rPr lang="en-US" dirty="0"/>
              <a:t>  Kitap-ID]</a:t>
            </a:r>
          </a:p>
          <a:p>
            <a:pPr rtl="0">
              <a:lnSpc>
                <a:spcPts val="3375"/>
              </a:lnSpc>
            </a:pPr>
            <a:r>
              <a:rPr lang="tr-TR" sz="1800" dirty="0">
                <a:latin typeface="Arial MT"/>
                <a:ea typeface="Segoe UI"/>
                <a:cs typeface="Segoe UI"/>
              </a:rPr>
              <a:t>​</a:t>
            </a:r>
          </a:p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46704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F0E00C3-4613-415F-BE3A-78FBAD906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71380" cy="5143500"/>
          </a:xfrm>
          <a:custGeom>
            <a:avLst/>
            <a:gdLst>
              <a:gd name="connsiteX0" fmla="*/ 0 w 10495175"/>
              <a:gd name="connsiteY0" fmla="*/ 0 h 6858000"/>
              <a:gd name="connsiteX1" fmla="*/ 5289224 w 10495175"/>
              <a:gd name="connsiteY1" fmla="*/ 0 h 6858000"/>
              <a:gd name="connsiteX2" fmla="*/ 6736007 w 10495175"/>
              <a:gd name="connsiteY2" fmla="*/ 0 h 6858000"/>
              <a:gd name="connsiteX3" fmla="*/ 6998753 w 10495175"/>
              <a:gd name="connsiteY3" fmla="*/ 0 h 6858000"/>
              <a:gd name="connsiteX4" fmla="*/ 7778919 w 10495175"/>
              <a:gd name="connsiteY4" fmla="*/ 0 h 6858000"/>
              <a:gd name="connsiteX5" fmla="*/ 8872152 w 10495175"/>
              <a:gd name="connsiteY5" fmla="*/ 0 h 6858000"/>
              <a:gd name="connsiteX6" fmla="*/ 8894276 w 10495175"/>
              <a:gd name="connsiteY6" fmla="*/ 14997 h 6858000"/>
              <a:gd name="connsiteX7" fmla="*/ 10495175 w 10495175"/>
              <a:gd name="connsiteY7" fmla="*/ 3621656 h 6858000"/>
              <a:gd name="connsiteX8" fmla="*/ 8620825 w 10495175"/>
              <a:gd name="connsiteY8" fmla="*/ 6374814 h 6858000"/>
              <a:gd name="connsiteX9" fmla="*/ 8104177 w 10495175"/>
              <a:gd name="connsiteY9" fmla="*/ 6780599 h 6858000"/>
              <a:gd name="connsiteX10" fmla="*/ 7992421 w 10495175"/>
              <a:gd name="connsiteY10" fmla="*/ 6858000 h 6858000"/>
              <a:gd name="connsiteX11" fmla="*/ 7778919 w 10495175"/>
              <a:gd name="connsiteY11" fmla="*/ 6858000 h 6858000"/>
              <a:gd name="connsiteX12" fmla="*/ 6998753 w 10495175"/>
              <a:gd name="connsiteY12" fmla="*/ 6858000 h 6858000"/>
              <a:gd name="connsiteX13" fmla="*/ 6736007 w 10495175"/>
              <a:gd name="connsiteY13" fmla="*/ 6858000 h 6858000"/>
              <a:gd name="connsiteX14" fmla="*/ 5289224 w 10495175"/>
              <a:gd name="connsiteY14" fmla="*/ 6858000 h 6858000"/>
              <a:gd name="connsiteX15" fmla="*/ 0 w 10495175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495175" h="6858000">
                <a:moveTo>
                  <a:pt x="0" y="0"/>
                </a:moveTo>
                <a:lnTo>
                  <a:pt x="5289224" y="0"/>
                </a:lnTo>
                <a:lnTo>
                  <a:pt x="6736007" y="0"/>
                </a:lnTo>
                <a:lnTo>
                  <a:pt x="6998753" y="0"/>
                </a:lnTo>
                <a:lnTo>
                  <a:pt x="7778919" y="0"/>
                </a:lnTo>
                <a:lnTo>
                  <a:pt x="8872152" y="0"/>
                </a:lnTo>
                <a:lnTo>
                  <a:pt x="8894276" y="14997"/>
                </a:lnTo>
                <a:cubicBezTo>
                  <a:pt x="9921439" y="754641"/>
                  <a:pt x="10495175" y="2093192"/>
                  <a:pt x="10495175" y="3621656"/>
                </a:cubicBezTo>
                <a:cubicBezTo>
                  <a:pt x="10495175" y="4969131"/>
                  <a:pt x="9566450" y="5602839"/>
                  <a:pt x="8620825" y="6374814"/>
                </a:cubicBezTo>
                <a:cubicBezTo>
                  <a:pt x="8448622" y="6515397"/>
                  <a:pt x="8277995" y="6653108"/>
                  <a:pt x="8104177" y="6780599"/>
                </a:cubicBezTo>
                <a:lnTo>
                  <a:pt x="7992421" y="6858000"/>
                </a:lnTo>
                <a:lnTo>
                  <a:pt x="7778919" y="6858000"/>
                </a:lnTo>
                <a:lnTo>
                  <a:pt x="6998753" y="6858000"/>
                </a:lnTo>
                <a:lnTo>
                  <a:pt x="6736007" y="6858000"/>
                </a:lnTo>
                <a:lnTo>
                  <a:pt x="528922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DBEAE55-3EA1-41D7-A212-5F7D8986C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98515" y="0"/>
            <a:ext cx="1897292" cy="51435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FC5F0E7-644F-4101-BE72-12825CF5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39473" y="0"/>
            <a:ext cx="1902325" cy="51435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F2DCDB70-76F6-5E48-BEB1-13B00D0868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653700"/>
              </p:ext>
            </p:extLst>
          </p:nvPr>
        </p:nvGraphicFramePr>
        <p:xfrm>
          <a:off x="814191" y="211376"/>
          <a:ext cx="6837764" cy="46295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793">
                  <a:extLst>
                    <a:ext uri="{9D8B030D-6E8A-4147-A177-3AD203B41FA5}">
                      <a16:colId xmlns:a16="http://schemas.microsoft.com/office/drawing/2014/main" val="3032454685"/>
                    </a:ext>
                  </a:extLst>
                </a:gridCol>
                <a:gridCol w="2117091">
                  <a:extLst>
                    <a:ext uri="{9D8B030D-6E8A-4147-A177-3AD203B41FA5}">
                      <a16:colId xmlns:a16="http://schemas.microsoft.com/office/drawing/2014/main" val="2265650425"/>
                    </a:ext>
                  </a:extLst>
                </a:gridCol>
                <a:gridCol w="1193206">
                  <a:extLst>
                    <a:ext uri="{9D8B030D-6E8A-4147-A177-3AD203B41FA5}">
                      <a16:colId xmlns:a16="http://schemas.microsoft.com/office/drawing/2014/main" val="3584836610"/>
                    </a:ext>
                  </a:extLst>
                </a:gridCol>
                <a:gridCol w="1377329">
                  <a:extLst>
                    <a:ext uri="{9D8B030D-6E8A-4147-A177-3AD203B41FA5}">
                      <a16:colId xmlns:a16="http://schemas.microsoft.com/office/drawing/2014/main" val="543288334"/>
                    </a:ext>
                  </a:extLst>
                </a:gridCol>
                <a:gridCol w="1365345">
                  <a:extLst>
                    <a:ext uri="{9D8B030D-6E8A-4147-A177-3AD203B41FA5}">
                      <a16:colId xmlns:a16="http://schemas.microsoft.com/office/drawing/2014/main" val="2223474638"/>
                    </a:ext>
                  </a:extLst>
                </a:gridCol>
              </a:tblGrid>
              <a:tr h="38004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900" b="1" u="sng" dirty="0">
                          <a:solidFill>
                            <a:srgbClr val="0D0D0D"/>
                          </a:solidFill>
                          <a:effectLst/>
                        </a:rPr>
                        <a:t>Sıra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900" b="1" u="sng" dirty="0">
                          <a:solidFill>
                            <a:srgbClr val="0D0D0D"/>
                          </a:solidFill>
                          <a:effectLst/>
                        </a:rPr>
                        <a:t>Uygulanan Model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900" b="1" u="sng" dirty="0">
                          <a:solidFill>
                            <a:srgbClr val="0D0D0D"/>
                          </a:solidFill>
                          <a:effectLst/>
                        </a:rPr>
                        <a:t>Doğruluk (</a:t>
                      </a:r>
                      <a:r>
                        <a:rPr lang="tr-TR" sz="900" b="1" u="sng" dirty="0" err="1">
                          <a:solidFill>
                            <a:srgbClr val="0D0D0D"/>
                          </a:solidFill>
                          <a:effectLst/>
                        </a:rPr>
                        <a:t>Acc</a:t>
                      </a:r>
                      <a:r>
                        <a:rPr lang="tr-TR" sz="900" b="1" u="sng" dirty="0">
                          <a:solidFill>
                            <a:srgbClr val="0D0D0D"/>
                          </a:solidFill>
                          <a:effectLst/>
                        </a:rPr>
                        <a:t>)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900" b="1" u="sng" dirty="0">
                          <a:solidFill>
                            <a:srgbClr val="0D0D0D"/>
                          </a:solidFill>
                          <a:effectLst/>
                        </a:rPr>
                        <a:t>Duyarlılık (</a:t>
                      </a:r>
                      <a:r>
                        <a:rPr lang="tr-TR" sz="900" b="1" u="sng" dirty="0" err="1">
                          <a:solidFill>
                            <a:srgbClr val="0D0D0D"/>
                          </a:solidFill>
                          <a:effectLst/>
                        </a:rPr>
                        <a:t>Recall</a:t>
                      </a:r>
                      <a:r>
                        <a:rPr lang="tr-TR" sz="900" b="1" u="sng" dirty="0">
                          <a:solidFill>
                            <a:srgbClr val="0D0D0D"/>
                          </a:solidFill>
                          <a:effectLst/>
                        </a:rPr>
                        <a:t>)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900" b="1" u="sng" dirty="0">
                          <a:solidFill>
                            <a:srgbClr val="0D0D0D"/>
                          </a:solidFill>
                          <a:effectLst/>
                        </a:rPr>
                        <a:t>F1-Skoru (Macro)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978338"/>
                  </a:ext>
                </a:extLst>
              </a:tr>
              <a:tr h="38004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>
                          <a:effectLst/>
                        </a:rPr>
                        <a:t>1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b="1" dirty="0">
                          <a:effectLst/>
                        </a:rPr>
                        <a:t>MLP (</a:t>
                      </a:r>
                      <a:r>
                        <a:rPr lang="tr-TR" sz="800" b="1" err="1">
                          <a:effectLst/>
                        </a:rPr>
                        <a:t>PyTorch</a:t>
                      </a:r>
                      <a:r>
                        <a:rPr lang="tr-TR" sz="800" b="1" dirty="0">
                          <a:effectLst/>
                        </a:rPr>
                        <a:t> - En Dengeli)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b="1" dirty="0">
                          <a:effectLst/>
                        </a:rPr>
                        <a:t>%75,67</a:t>
                      </a:r>
                      <a:endParaRPr lang="tr-TR" sz="800" dirty="0">
                        <a:effectLst/>
                      </a:endParaRP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b="1" dirty="0">
                          <a:effectLst/>
                        </a:rPr>
                        <a:t>0.517</a:t>
                      </a:r>
                      <a:endParaRPr lang="tr-TR" sz="800" dirty="0">
                        <a:effectLst/>
                      </a:endParaRP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b="1" dirty="0">
                          <a:effectLst/>
                        </a:rPr>
                        <a:t>0.516</a:t>
                      </a:r>
                      <a:endParaRPr lang="tr-TR" sz="800" dirty="0">
                        <a:effectLst/>
                      </a:endParaRP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219817"/>
                  </a:ext>
                </a:extLst>
              </a:tr>
              <a:tr h="380041">
                <a:tc>
                  <a:txBody>
                    <a:bodyPr/>
                    <a:lstStyle/>
                    <a:p>
                      <a:pPr lvl="0" rtl="0">
                        <a:buNone/>
                      </a:pPr>
                      <a:r>
                        <a:rPr lang="tr-TR" sz="800" dirty="0"/>
                        <a:t>2</a:t>
                      </a:r>
                      <a:endParaRPr lang="tr-TR" sz="800" dirty="0">
                        <a:effectLst/>
                      </a:endParaRPr>
                    </a:p>
                  </a:txBody>
                  <a:tcPr marL="48088" marR="48088" marT="32058" marB="32058" anchor="ctr">
                    <a:lnL w="9524">
                      <a:solidFill>
                        <a:schemeClr val="bg1"/>
                      </a:solidFill>
                    </a:lnL>
                    <a:lnR w="9524">
                      <a:solidFill>
                        <a:schemeClr val="bg1"/>
                      </a:solidFill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>
                        <a:buNone/>
                      </a:pPr>
                      <a:r>
                        <a:rPr lang="tr-TR" sz="800" b="1" err="1"/>
                        <a:t>XGBoost</a:t>
                      </a:r>
                      <a:r>
                        <a:rPr lang="tr-TR" sz="800" b="1" dirty="0"/>
                        <a:t> </a:t>
                      </a:r>
                      <a:r>
                        <a:rPr lang="tr-TR" sz="800" b="1" err="1"/>
                        <a:t>Classifier</a:t>
                      </a:r>
                      <a:endParaRPr lang="tr-TR">
                        <a:effectLst/>
                      </a:endParaRPr>
                    </a:p>
                  </a:txBody>
                  <a:tcPr marL="48088" marR="48088" marT="32058" marB="32058" anchor="ctr">
                    <a:lnL w="9524">
                      <a:solidFill>
                        <a:schemeClr val="bg1"/>
                      </a:solidFill>
                    </a:lnL>
                    <a:lnR w="9524">
                      <a:solidFill>
                        <a:schemeClr val="bg1"/>
                      </a:solidFill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>
                        <a:buNone/>
                      </a:pPr>
                      <a:r>
                        <a:rPr lang="tr-TR" sz="800" dirty="0"/>
                        <a:t>%75,76</a:t>
                      </a:r>
                      <a:endParaRPr lang="tr-TR">
                        <a:effectLst/>
                      </a:endParaRPr>
                    </a:p>
                  </a:txBody>
                  <a:tcPr marL="48088" marR="48088" marT="32058" marB="32058" anchor="ctr">
                    <a:lnL w="9524">
                      <a:solidFill>
                        <a:schemeClr val="bg1"/>
                      </a:solidFill>
                    </a:lnL>
                    <a:lnR w="9524">
                      <a:solidFill>
                        <a:schemeClr val="bg1"/>
                      </a:solidFill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>
                        <a:buNone/>
                      </a:pPr>
                      <a:r>
                        <a:rPr lang="tr-TR" sz="800" dirty="0"/>
                        <a:t>0.410</a:t>
                      </a:r>
                      <a:endParaRPr lang="tr-TR">
                        <a:effectLst/>
                      </a:endParaRPr>
                    </a:p>
                  </a:txBody>
                  <a:tcPr marL="48088" marR="48088" marT="32058" marB="32058" anchor="ctr">
                    <a:lnL w="9524">
                      <a:solidFill>
                        <a:schemeClr val="bg1"/>
                      </a:solidFill>
                    </a:lnL>
                    <a:lnR w="9524">
                      <a:solidFill>
                        <a:schemeClr val="bg1"/>
                      </a:solidFill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>
                        <a:buNone/>
                      </a:pPr>
                      <a:r>
                        <a:rPr lang="tr-TR" sz="800" dirty="0"/>
                        <a:t>0.380</a:t>
                      </a:r>
                      <a:endParaRPr lang="tr-TR">
                        <a:effectLst/>
                      </a:endParaRPr>
                    </a:p>
                  </a:txBody>
                  <a:tcPr marL="48088" marR="48088" marT="32058" marB="32058" anchor="ctr">
                    <a:lnL w="9524">
                      <a:solidFill>
                        <a:schemeClr val="bg1"/>
                      </a:solidFill>
                    </a:lnL>
                    <a:lnR w="9524">
                      <a:solidFill>
                        <a:schemeClr val="bg1"/>
                      </a:solidFill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chemeClr val="bg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0488990"/>
                  </a:ext>
                </a:extLst>
              </a:tr>
              <a:tr h="38004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/>
                        <a:t>3</a:t>
                      </a:r>
                      <a:endParaRPr lang="tr-TR" sz="800" dirty="0">
                        <a:effectLst/>
                      </a:endParaRP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b="1" err="1">
                          <a:effectLst/>
                        </a:rPr>
                        <a:t>Gradient</a:t>
                      </a:r>
                      <a:r>
                        <a:rPr lang="tr-TR" sz="800" b="1" dirty="0">
                          <a:effectLst/>
                        </a:rPr>
                        <a:t> </a:t>
                      </a:r>
                      <a:r>
                        <a:rPr lang="tr-TR" sz="800" b="1" err="1">
                          <a:effectLst/>
                        </a:rPr>
                        <a:t>Boosting</a:t>
                      </a:r>
                      <a:r>
                        <a:rPr lang="tr-TR" sz="800" b="1" dirty="0">
                          <a:effectLst/>
                        </a:rPr>
                        <a:t> (</a:t>
                      </a:r>
                      <a:r>
                        <a:rPr lang="tr-TR" sz="800" b="1" err="1">
                          <a:effectLst/>
                        </a:rPr>
                        <a:t>Tuned</a:t>
                      </a:r>
                      <a:r>
                        <a:rPr lang="tr-TR" sz="800" b="1" dirty="0">
                          <a:effectLst/>
                        </a:rPr>
                        <a:t>)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>
                          <a:effectLst/>
                        </a:rPr>
                        <a:t>%74,37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>
                          <a:effectLst/>
                        </a:rPr>
                        <a:t>0.510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>
                          <a:effectLst/>
                        </a:rPr>
                        <a:t>0.511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0011265"/>
                  </a:ext>
                </a:extLst>
              </a:tr>
              <a:tr h="24184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/>
                        <a:t>4</a:t>
                      </a:r>
                      <a:endParaRPr lang="tr-TR" sz="800" dirty="0">
                        <a:effectLst/>
                      </a:endParaRP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b="1" err="1">
                          <a:effectLst/>
                        </a:rPr>
                        <a:t>Deep</a:t>
                      </a:r>
                      <a:r>
                        <a:rPr lang="tr-TR" sz="800" b="1" dirty="0">
                          <a:effectLst/>
                        </a:rPr>
                        <a:t> MLP (</a:t>
                      </a:r>
                      <a:r>
                        <a:rPr lang="tr-TR" sz="800" b="1" err="1">
                          <a:effectLst/>
                        </a:rPr>
                        <a:t>PyTorch</a:t>
                      </a:r>
                      <a:r>
                        <a:rPr lang="tr-TR" sz="800" b="1" dirty="0">
                          <a:effectLst/>
                        </a:rPr>
                        <a:t>)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>
                          <a:effectLst/>
                        </a:rPr>
                        <a:t>%74,40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>
                          <a:effectLst/>
                        </a:rPr>
                        <a:t>0.478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>
                          <a:effectLst/>
                        </a:rPr>
                        <a:t>0.465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6196325"/>
                  </a:ext>
                </a:extLst>
              </a:tr>
              <a:tr h="24184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/>
                        <a:t>5</a:t>
                      </a:r>
                      <a:endParaRPr lang="tr-TR" sz="800" dirty="0">
                        <a:effectLst/>
                      </a:endParaRP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b="1" err="1">
                          <a:effectLst/>
                        </a:rPr>
                        <a:t>Extra</a:t>
                      </a:r>
                      <a:r>
                        <a:rPr lang="tr-TR" sz="800" b="1" dirty="0">
                          <a:effectLst/>
                        </a:rPr>
                        <a:t> </a:t>
                      </a:r>
                      <a:r>
                        <a:rPr lang="tr-TR" sz="800" b="1" err="1">
                          <a:effectLst/>
                        </a:rPr>
                        <a:t>Trees</a:t>
                      </a:r>
                      <a:r>
                        <a:rPr lang="tr-TR" sz="800" b="1" dirty="0">
                          <a:effectLst/>
                        </a:rPr>
                        <a:t> (</a:t>
                      </a:r>
                      <a:r>
                        <a:rPr lang="tr-TR" sz="800" b="1" err="1">
                          <a:effectLst/>
                        </a:rPr>
                        <a:t>Tuned</a:t>
                      </a:r>
                      <a:r>
                        <a:rPr lang="tr-TR" sz="800" b="1" dirty="0">
                          <a:effectLst/>
                        </a:rPr>
                        <a:t>)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>
                          <a:effectLst/>
                        </a:rPr>
                        <a:t>%73,25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>
                          <a:effectLst/>
                        </a:rPr>
                        <a:t>0.410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>
                          <a:effectLst/>
                        </a:rPr>
                        <a:t>0.381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9447315"/>
                  </a:ext>
                </a:extLst>
              </a:tr>
              <a:tr h="38004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>
                          <a:effectLst/>
                        </a:rPr>
                        <a:t>6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b="1" dirty="0">
                          <a:effectLst/>
                        </a:rPr>
                        <a:t>ANN (</a:t>
                      </a:r>
                      <a:r>
                        <a:rPr lang="tr-TR" sz="800" b="1" err="1">
                          <a:effectLst/>
                        </a:rPr>
                        <a:t>Keras</a:t>
                      </a:r>
                      <a:r>
                        <a:rPr lang="tr-TR" sz="800" b="1" dirty="0">
                          <a:effectLst/>
                        </a:rPr>
                        <a:t> - Derin Öğrenme)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>
                          <a:effectLst/>
                        </a:rPr>
                        <a:t>%76,00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>
                          <a:effectLst/>
                        </a:rPr>
                        <a:t>0.410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>
                          <a:effectLst/>
                        </a:rPr>
                        <a:t>0.380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9922104"/>
                  </a:ext>
                </a:extLst>
              </a:tr>
              <a:tr h="24184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>
                          <a:effectLst/>
                        </a:rPr>
                        <a:t>7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b="1" err="1">
                          <a:effectLst/>
                        </a:rPr>
                        <a:t>Random</a:t>
                      </a:r>
                      <a:r>
                        <a:rPr lang="tr-TR" sz="800" b="1" dirty="0">
                          <a:effectLst/>
                        </a:rPr>
                        <a:t> </a:t>
                      </a:r>
                      <a:r>
                        <a:rPr lang="tr-TR" sz="800" b="1" err="1">
                          <a:effectLst/>
                        </a:rPr>
                        <a:t>Forest</a:t>
                      </a:r>
                      <a:r>
                        <a:rPr lang="tr-TR" sz="800" b="1" dirty="0">
                          <a:effectLst/>
                        </a:rPr>
                        <a:t> (Orijinal)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>
                          <a:effectLst/>
                        </a:rPr>
                        <a:t>%73,21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>
                          <a:effectLst/>
                        </a:rPr>
                        <a:t>0.400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>
                          <a:effectLst/>
                        </a:rPr>
                        <a:t>0.366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9036550"/>
                  </a:ext>
                </a:extLst>
              </a:tr>
              <a:tr h="38004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>
                          <a:effectLst/>
                        </a:rPr>
                        <a:t>8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b="1" err="1">
                          <a:effectLst/>
                        </a:rPr>
                        <a:t>Random</a:t>
                      </a:r>
                      <a:r>
                        <a:rPr lang="tr-TR" sz="800" b="1" dirty="0">
                          <a:effectLst/>
                        </a:rPr>
                        <a:t> </a:t>
                      </a:r>
                      <a:r>
                        <a:rPr lang="tr-TR" sz="800" b="1" err="1">
                          <a:effectLst/>
                        </a:rPr>
                        <a:t>Forest</a:t>
                      </a:r>
                      <a:endParaRPr lang="tr-TR" sz="800" b="1" dirty="0" err="1">
                        <a:effectLst/>
                      </a:endParaRP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>
                          <a:effectLst/>
                        </a:rPr>
                        <a:t>%73,00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>
                          <a:effectLst/>
                        </a:rPr>
                        <a:t>0.390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>
                          <a:effectLst/>
                        </a:rPr>
                        <a:t>0.350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2280100"/>
                  </a:ext>
                </a:extLst>
              </a:tr>
              <a:tr h="38004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>
                          <a:effectLst/>
                        </a:rPr>
                        <a:t>9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b="1" err="1">
                          <a:effectLst/>
                        </a:rPr>
                        <a:t>Logistic</a:t>
                      </a:r>
                      <a:r>
                        <a:rPr lang="tr-TR" sz="800" b="1" dirty="0">
                          <a:effectLst/>
                        </a:rPr>
                        <a:t> </a:t>
                      </a:r>
                      <a:r>
                        <a:rPr lang="tr-TR" sz="800" b="1" err="1">
                          <a:effectLst/>
                        </a:rPr>
                        <a:t>Regression</a:t>
                      </a:r>
                      <a:r>
                        <a:rPr lang="tr-TR" sz="800" b="1" dirty="0">
                          <a:effectLst/>
                        </a:rPr>
                        <a:t> (</a:t>
                      </a:r>
                      <a:r>
                        <a:rPr lang="tr-TR" sz="800" b="1" err="1">
                          <a:effectLst/>
                        </a:rPr>
                        <a:t>Baseline</a:t>
                      </a:r>
                      <a:r>
                        <a:rPr lang="tr-TR" sz="800" b="1" dirty="0">
                          <a:effectLst/>
                        </a:rPr>
                        <a:t>)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>
                          <a:effectLst/>
                        </a:rPr>
                        <a:t>%73,07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>
                          <a:effectLst/>
                        </a:rPr>
                        <a:t>0.390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>
                          <a:effectLst/>
                        </a:rPr>
                        <a:t>0.345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853533"/>
                  </a:ext>
                </a:extLst>
              </a:tr>
              <a:tr h="24184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>
                          <a:effectLst/>
                        </a:rPr>
                        <a:t>10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b="1" err="1">
                          <a:effectLst/>
                        </a:rPr>
                        <a:t>Logistic</a:t>
                      </a:r>
                      <a:r>
                        <a:rPr lang="tr-TR" sz="800" b="1" dirty="0">
                          <a:effectLst/>
                        </a:rPr>
                        <a:t> </a:t>
                      </a:r>
                      <a:r>
                        <a:rPr lang="tr-TR" sz="800" b="1" err="1">
                          <a:effectLst/>
                        </a:rPr>
                        <a:t>Regression</a:t>
                      </a:r>
                      <a:endParaRPr lang="tr-TR" sz="800" b="1" dirty="0" err="1">
                        <a:effectLst/>
                      </a:endParaRP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>
                          <a:effectLst/>
                        </a:rPr>
                        <a:t>%73,07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>
                          <a:effectLst/>
                        </a:rPr>
                        <a:t>0.390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>
                          <a:effectLst/>
                        </a:rPr>
                        <a:t>0.345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357962"/>
                  </a:ext>
                </a:extLst>
              </a:tr>
              <a:tr h="24184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>
                          <a:effectLst/>
                        </a:rPr>
                        <a:t>11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b="1" dirty="0">
                          <a:effectLst/>
                        </a:rPr>
                        <a:t>KNN (SVD - 20 Bileşen)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>
                          <a:effectLst/>
                        </a:rPr>
                        <a:t>%71,88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>
                          <a:effectLst/>
                        </a:rPr>
                        <a:t>0.380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>
                          <a:effectLst/>
                        </a:rPr>
                        <a:t>0.342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6804929"/>
                  </a:ext>
                </a:extLst>
              </a:tr>
              <a:tr h="38004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>
                          <a:effectLst/>
                        </a:rPr>
                        <a:t>12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b="1" err="1">
                          <a:effectLst/>
                        </a:rPr>
                        <a:t>LightGBM</a:t>
                      </a:r>
                      <a:r>
                        <a:rPr lang="tr-TR" sz="800" b="1" dirty="0">
                          <a:effectLst/>
                        </a:rPr>
                        <a:t> </a:t>
                      </a:r>
                      <a:r>
                        <a:rPr lang="tr-TR" sz="800" b="1" err="1">
                          <a:effectLst/>
                        </a:rPr>
                        <a:t>Classifier</a:t>
                      </a:r>
                      <a:endParaRPr lang="tr-TR" sz="800" b="1" dirty="0" err="1">
                        <a:effectLst/>
                      </a:endParaRP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>
                          <a:effectLst/>
                        </a:rPr>
                        <a:t>%65,14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>
                          <a:effectLst/>
                        </a:rPr>
                        <a:t>0.370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>
                          <a:effectLst/>
                        </a:rPr>
                        <a:t>0.330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703506"/>
                  </a:ext>
                </a:extLst>
              </a:tr>
              <a:tr h="38004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>
                          <a:effectLst/>
                        </a:rPr>
                        <a:t>13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b="1" dirty="0">
                          <a:effectLst/>
                        </a:rPr>
                        <a:t>LSTM (</a:t>
                      </a:r>
                      <a:r>
                        <a:rPr lang="tr-TR" sz="800" b="1" err="1">
                          <a:effectLst/>
                        </a:rPr>
                        <a:t>Keras</a:t>
                      </a:r>
                      <a:r>
                        <a:rPr lang="tr-TR" sz="800" b="1" dirty="0">
                          <a:effectLst/>
                        </a:rPr>
                        <a:t>)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>
                          <a:effectLst/>
                        </a:rPr>
                        <a:t>%65,00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>
                          <a:effectLst/>
                        </a:rPr>
                        <a:t>0.330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800" dirty="0">
                          <a:effectLst/>
                        </a:rPr>
                        <a:t>0.310</a:t>
                      </a:r>
                    </a:p>
                  </a:txBody>
                  <a:tcPr marL="48089" marR="48089" marT="32059" marB="3205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934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5056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1271156"/>
            <a:ext cx="8303651" cy="262379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tr-TR" sz="2400" b="1" dirty="0">
                <a:solidFill>
                  <a:schemeClr val="tx1"/>
                </a:solidFill>
                <a:latin typeface="Arial MT"/>
              </a:rPr>
              <a:t>Sonuçlar ve Değerlendirme - </a:t>
            </a:r>
          </a:p>
          <a:p>
            <a:pPr marL="12700">
              <a:spcBef>
                <a:spcPts val="100"/>
              </a:spcBef>
            </a:pPr>
            <a:r>
              <a:rPr lang="tr-TR" dirty="0">
                <a:solidFill>
                  <a:schemeClr val="tx1"/>
                </a:solidFill>
                <a:latin typeface="Arial MT"/>
              </a:rPr>
              <a:t>Bu projede bir sonraki kitabı tahmin etmek için birden çok makine öğrenimi ve derin öğrenme modelleri kullanılmıştır. Verilerin dengesizliği veya </a:t>
            </a:r>
            <a:r>
              <a:rPr lang="tr-TR" err="1">
                <a:solidFill>
                  <a:schemeClr val="tx1"/>
                </a:solidFill>
                <a:latin typeface="Arial MT"/>
              </a:rPr>
              <a:t>verisetindeki</a:t>
            </a:r>
            <a:r>
              <a:rPr lang="tr-TR" dirty="0">
                <a:solidFill>
                  <a:schemeClr val="tx1"/>
                </a:solidFill>
                <a:latin typeface="Arial MT"/>
              </a:rPr>
              <a:t> eksiklikler kitap gibi projemizin dezavantajlarıdır. </a:t>
            </a:r>
            <a:endParaRPr lang="tr-TR">
              <a:solidFill>
                <a:schemeClr val="tx1"/>
              </a:solidFill>
            </a:endParaRPr>
          </a:p>
          <a:p>
            <a:pPr marL="12700">
              <a:spcBef>
                <a:spcPts val="100"/>
              </a:spcBef>
            </a:pPr>
            <a:r>
              <a:rPr lang="tr-TR" dirty="0">
                <a:solidFill>
                  <a:schemeClr val="tx1"/>
                </a:solidFill>
                <a:latin typeface="Arial MT"/>
              </a:rPr>
              <a:t>Modeller doğruluk (</a:t>
            </a:r>
            <a:r>
              <a:rPr lang="tr-TR" err="1">
                <a:solidFill>
                  <a:schemeClr val="tx1"/>
                </a:solidFill>
                <a:latin typeface="Arial MT"/>
              </a:rPr>
              <a:t>accuracy</a:t>
            </a:r>
            <a:r>
              <a:rPr lang="tr-TR" dirty="0">
                <a:solidFill>
                  <a:schemeClr val="tx1"/>
                </a:solidFill>
                <a:latin typeface="Arial MT"/>
              </a:rPr>
              <a:t> ) , makro F1 </a:t>
            </a:r>
            <a:r>
              <a:rPr lang="tr-TR" err="1">
                <a:solidFill>
                  <a:schemeClr val="tx1"/>
                </a:solidFill>
                <a:latin typeface="Arial MT"/>
              </a:rPr>
              <a:t>score</a:t>
            </a:r>
            <a:r>
              <a:rPr lang="tr-TR" dirty="0">
                <a:solidFill>
                  <a:schemeClr val="tx1"/>
                </a:solidFill>
                <a:latin typeface="Arial MT"/>
              </a:rPr>
              <a:t> , duyarlılık (</a:t>
            </a:r>
            <a:r>
              <a:rPr lang="tr-TR" err="1">
                <a:solidFill>
                  <a:schemeClr val="tx1"/>
                </a:solidFill>
                <a:latin typeface="Arial MT"/>
              </a:rPr>
              <a:t>recall</a:t>
            </a:r>
            <a:r>
              <a:rPr lang="tr-TR" dirty="0">
                <a:solidFill>
                  <a:schemeClr val="tx1"/>
                </a:solidFill>
                <a:latin typeface="Arial MT"/>
              </a:rPr>
              <a:t>) metrikler ile </a:t>
            </a:r>
            <a:r>
              <a:rPr lang="tr-TR" err="1">
                <a:solidFill>
                  <a:schemeClr val="tx1"/>
                </a:solidFill>
                <a:latin typeface="Arial MT"/>
              </a:rPr>
              <a:t>değerldirilmiş</a:t>
            </a:r>
            <a:r>
              <a:rPr lang="tr-TR" dirty="0">
                <a:solidFill>
                  <a:schemeClr val="tx1"/>
                </a:solidFill>
                <a:latin typeface="Arial MT"/>
              </a:rPr>
              <a:t> olup  En iyi sonuçları </a:t>
            </a:r>
            <a:r>
              <a:rPr lang="tr-TR" err="1">
                <a:solidFill>
                  <a:schemeClr val="tx1"/>
                </a:solidFill>
                <a:latin typeface="Arial MT"/>
              </a:rPr>
              <a:t>XGBoost</a:t>
            </a:r>
            <a:r>
              <a:rPr lang="tr-TR" dirty="0">
                <a:solidFill>
                  <a:schemeClr val="tx1"/>
                </a:solidFill>
                <a:latin typeface="Arial MT"/>
              </a:rPr>
              <a:t> modeli ve  MLP modelleri vermiştir bu proje için aslında en iyi modellerin Bu sonuçlar , problemin doğrusal olmayan yapısının ve türetilmiş özelliklerin , çok katmanlı sinir ağları tarafından daha iyi öğrenildiğini </a:t>
            </a:r>
            <a:r>
              <a:rPr lang="tr-TR" err="1">
                <a:solidFill>
                  <a:schemeClr val="tx1"/>
                </a:solidFill>
                <a:latin typeface="Arial MT"/>
              </a:rPr>
              <a:t>göstermekterdir</a:t>
            </a:r>
            <a:r>
              <a:rPr lang="tr-TR" dirty="0">
                <a:solidFill>
                  <a:schemeClr val="tx1"/>
                </a:solidFill>
                <a:latin typeface="Arial MT"/>
              </a:rPr>
              <a:t>. </a:t>
            </a:r>
            <a:endParaRPr lang="tr-TR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Ekran Gösterisi (16:9)</PresentationFormat>
  <Slides>9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0" baseType="lpstr">
      <vt:lpstr>Office Theme</vt:lpstr>
      <vt:lpstr>FET445 Veri Madenciliği</vt:lpstr>
      <vt:lpstr>Kütüphanede okuyuculara kitap tavsiyesi 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Örnek_Sunum_Şablonu</dc:title>
  <cp:revision>465</cp:revision>
  <dcterms:created xsi:type="dcterms:W3CDTF">2025-12-21T09:18:09Z</dcterms:created>
  <dcterms:modified xsi:type="dcterms:W3CDTF">2025-12-23T12:14:49Z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2025-12-21T00:00:00Z</vt:filetime>
  </property>
  <property fmtid="{D5CDD505-2E9C-101B-9397-08002B2CF9AE}" pid="3" name="Creator">
    <vt:lpwstr>Google</vt:lpwstr>
  </property>
  <property fmtid="{D5CDD505-2E9C-101B-9397-08002B2CF9AE}" pid="4" name="LastSaved">
    <vt:filetime>2025-12-21T00:00:00Z</vt:filetime>
  </property>
</Properties>
</file>